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omments/modernComment_105_22690474.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 id="2147483653" r:id="rId2"/>
    <p:sldMasterId id="2147483654" r:id="rId3"/>
    <p:sldMasterId id="2147483655" r:id="rId4"/>
  </p:sldMasterIdLst>
  <p:notesMasterIdLst>
    <p:notesMasterId r:id="rId28"/>
  </p:notesMasterIdLst>
  <p:sldIdLst>
    <p:sldId id="256" r:id="rId5"/>
    <p:sldId id="257" r:id="rId6"/>
    <p:sldId id="258" r:id="rId7"/>
    <p:sldId id="261" r:id="rId8"/>
    <p:sldId id="263" r:id="rId9"/>
    <p:sldId id="262" r:id="rId10"/>
    <p:sldId id="267" r:id="rId11"/>
    <p:sldId id="260" r:id="rId12"/>
    <p:sldId id="264" r:id="rId13"/>
    <p:sldId id="269" r:id="rId14"/>
    <p:sldId id="274" r:id="rId15"/>
    <p:sldId id="275" r:id="rId16"/>
    <p:sldId id="270" r:id="rId17"/>
    <p:sldId id="276" r:id="rId18"/>
    <p:sldId id="265" r:id="rId19"/>
    <p:sldId id="266" r:id="rId20"/>
    <p:sldId id="268" r:id="rId21"/>
    <p:sldId id="271" r:id="rId22"/>
    <p:sldId id="272" r:id="rId23"/>
    <p:sldId id="273" r:id="rId24"/>
    <p:sldId id="277" r:id="rId25"/>
    <p:sldId id="278" r:id="rId26"/>
    <p:sldId id="259"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AF84C70-25FB-48AD-F26C-22D4E21A57B5}" name="Rafael tovar" initials="Rt" userId="7245b6e458026c6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1F26"/>
    <a:srgbClr val="ADE7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08" autoAdjust="0"/>
    <p:restoredTop sz="94660"/>
  </p:normalViewPr>
  <p:slideViewPr>
    <p:cSldViewPr snapToGrid="0">
      <p:cViewPr varScale="1">
        <p:scale>
          <a:sx n="75" d="100"/>
          <a:sy n="75" d="100"/>
        </p:scale>
        <p:origin x="66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omments/modernComment_105_22690474.xml><?xml version="1.0" encoding="utf-8"?>
<p188:cmLst xmlns:a="http://schemas.openxmlformats.org/drawingml/2006/main" xmlns:r="http://schemas.openxmlformats.org/officeDocument/2006/relationships" xmlns:p188="http://schemas.microsoft.com/office/powerpoint/2018/8/main">
  <p188:cm id="{31812062-AB34-45F2-B207-A96532DDF0C5}" authorId="{8AF84C70-25FB-48AD-F26C-22D4E21A57B5}" created="2023-05-19T00:44:17.049">
    <pc:sldMkLst xmlns:pc="http://schemas.microsoft.com/office/powerpoint/2013/main/command">
      <pc:docMk/>
      <pc:sldMk cId="577307764" sldId="261"/>
    </pc:sldMkLst>
    <p188:txBody>
      <a:bodyPr/>
      <a:lstStyle/>
      <a:p>
        <a:r>
          <a:rPr lang="es-CO"/>
          <a:t>Adicionar algunas definiciones importantes desde la estadística como variable latente, modelo proyectivo, índice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 name="Google Shape;2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 name="Google Shape;2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 name="Google Shape;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109240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 name="Google Shape;3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0"/>
        <p:cNvGrpSpPr/>
        <p:nvPr/>
      </p:nvGrpSpPr>
      <p:grpSpPr>
        <a:xfrm>
          <a:off x="0" y="0"/>
          <a:ext cx="0" cy="0"/>
          <a:chOff x="0" y="0"/>
          <a:chExt cx="0" cy="0"/>
        </a:xfrm>
      </p:grpSpPr>
      <p:sp>
        <p:nvSpPr>
          <p:cNvPr id="11" name="Google Shape;11;p4"/>
          <p:cNvSpPr txBox="1">
            <a:spLocks noGrp="1"/>
          </p:cNvSpPr>
          <p:nvPr>
            <p:ph type="ctrTitle"/>
          </p:nvPr>
        </p:nvSpPr>
        <p:spPr>
          <a:xfrm>
            <a:off x="543339" y="3706537"/>
            <a:ext cx="11105322" cy="134254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4500"/>
              <a:buFont typeface="Calibri"/>
              <a:buNone/>
              <a:defRPr sz="45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4"/>
          <p:cNvSpPr txBox="1">
            <a:spLocks noGrp="1"/>
          </p:cNvSpPr>
          <p:nvPr>
            <p:ph type="subTitle" idx="1"/>
          </p:nvPr>
        </p:nvSpPr>
        <p:spPr>
          <a:xfrm>
            <a:off x="526774" y="5202238"/>
            <a:ext cx="11138452" cy="85069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FF0000"/>
              </a:buClr>
              <a:buSzPts val="2000"/>
              <a:buFont typeface="Arial"/>
              <a:buNone/>
              <a:defRPr sz="2000" b="0" i="0" u="none" strike="noStrike" cap="none">
                <a:solidFill>
                  <a:srgbClr val="FF0000"/>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6"/>
          <p:cNvSpPr txBox="1">
            <a:spLocks noGrp="1"/>
          </p:cNvSpPr>
          <p:nvPr>
            <p:ph type="title"/>
          </p:nvPr>
        </p:nvSpPr>
        <p:spPr>
          <a:xfrm>
            <a:off x="526774" y="1232452"/>
            <a:ext cx="11138452" cy="85580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2900"/>
              <a:buFont typeface="Calibri"/>
              <a:buNone/>
              <a:defRPr sz="29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6"/>
          <p:cNvSpPr txBox="1">
            <a:spLocks noGrp="1"/>
          </p:cNvSpPr>
          <p:nvPr>
            <p:ph type="body" idx="1"/>
          </p:nvPr>
        </p:nvSpPr>
        <p:spPr>
          <a:xfrm>
            <a:off x="526774" y="2236304"/>
            <a:ext cx="11138452" cy="4248772"/>
          </a:xfrm>
          <a:prstGeom prst="rect">
            <a:avLst/>
          </a:prstGeom>
          <a:noFill/>
          <a:ln>
            <a:noFill/>
          </a:ln>
        </p:spPr>
        <p:txBody>
          <a:bodyPr spcFirstLastPara="1" wrap="square" lIns="91425" tIns="45700" rIns="91425" bIns="45700" anchor="t" anchorCtr="0">
            <a:noAutofit/>
          </a:bodyPr>
          <a:lstStyle>
            <a:lvl1pPr marL="457200" marR="0" lvl="0" indent="-374650" algn="l" rtl="0">
              <a:lnSpc>
                <a:spcPct val="90000"/>
              </a:lnSpc>
              <a:spcBef>
                <a:spcPts val="1000"/>
              </a:spcBef>
              <a:spcAft>
                <a:spcPts val="0"/>
              </a:spcAft>
              <a:buClr>
                <a:schemeClr val="dk1"/>
              </a:buClr>
              <a:buSzPts val="2300"/>
              <a:buFont typeface="Arial"/>
              <a:buChar char="•"/>
              <a:defRPr sz="23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9"/>
        <p:cNvGrpSpPr/>
        <p:nvPr/>
      </p:nvGrpSpPr>
      <p:grpSpPr>
        <a:xfrm>
          <a:off x="0" y="0"/>
          <a:ext cx="0" cy="0"/>
          <a:chOff x="0" y="0"/>
          <a:chExt cx="0" cy="0"/>
        </a:xfrm>
      </p:grpSpPr>
      <p:pic>
        <p:nvPicPr>
          <p:cNvPr id="20" name="Google Shape;20;p8"/>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pic>
        <p:nvPicPr>
          <p:cNvPr id="9" name="Google Shape;9;p3"/>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
        <p:cNvGrpSpPr/>
        <p:nvPr/>
      </p:nvGrpSpPr>
      <p:grpSpPr>
        <a:xfrm>
          <a:off x="0" y="0"/>
          <a:ext cx="0" cy="0"/>
          <a:chOff x="0" y="0"/>
          <a:chExt cx="0" cy="0"/>
        </a:xfrm>
      </p:grpSpPr>
      <p:pic>
        <p:nvPicPr>
          <p:cNvPr id="14" name="Google Shape;14;p5"/>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05_2269047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app.powerbi.com/view?r=eyJrIjoiMWQyOWU1N2UtM2UxZC00ZWMxLTk4NTktYTBjM2FkYzE1MTM1IiwidCI6ImZkNzY2ZWRkLThiZWEtNGM5OS04NjcyLTU2ZDFjYWJjMjcwNiIsImMiOjR9" TargetMode="External"/><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10"/>
          <p:cNvSpPr txBox="1">
            <a:spLocks noGrp="1"/>
          </p:cNvSpPr>
          <p:nvPr>
            <p:ph type="ctrTitle"/>
          </p:nvPr>
        </p:nvSpPr>
        <p:spPr>
          <a:xfrm>
            <a:off x="543339" y="3706537"/>
            <a:ext cx="11105322" cy="1342541"/>
          </a:xfrm>
          <a:prstGeom prst="rect">
            <a:avLst/>
          </a:prstGeom>
          <a:noFill/>
          <a:ln>
            <a:noFill/>
          </a:ln>
        </p:spPr>
        <p:txBody>
          <a:bodyPr spcFirstLastPara="1" wrap="square" lIns="91425" tIns="45700" rIns="91425" bIns="45700" anchor="b" anchorCtr="0">
            <a:noAutofit/>
          </a:bodyPr>
          <a:lstStyle/>
          <a:p>
            <a:pPr lvl="0"/>
            <a:r>
              <a:rPr lang="es-MX" dirty="0"/>
              <a:t>Propuesta de construcción de indicador de percepción de riesgo </a:t>
            </a:r>
            <a:endParaRPr dirty="0"/>
          </a:p>
        </p:txBody>
      </p:sp>
      <p:sp>
        <p:nvSpPr>
          <p:cNvPr id="30" name="Google Shape;30;p10"/>
          <p:cNvSpPr txBox="1">
            <a:spLocks noGrp="1"/>
          </p:cNvSpPr>
          <p:nvPr>
            <p:ph type="subTitle" idx="1"/>
          </p:nvPr>
        </p:nvSpPr>
        <p:spPr>
          <a:xfrm>
            <a:off x="526774" y="5202238"/>
            <a:ext cx="11138452" cy="85069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FF0000"/>
              </a:buClr>
              <a:buSzPts val="2000"/>
              <a:buNone/>
            </a:pPr>
            <a:r>
              <a:rPr lang="es-CO" dirty="0"/>
              <a:t>Laura Lucía Domínguez Barrios</a:t>
            </a:r>
          </a:p>
          <a:p>
            <a:pPr lvl="0">
              <a:spcBef>
                <a:spcPts val="0"/>
              </a:spcBef>
            </a:pPr>
            <a:r>
              <a:rPr lang="es-CO" dirty="0" err="1"/>
              <a:t>MSc</a:t>
            </a:r>
            <a:r>
              <a:rPr lang="es-CO" dirty="0"/>
              <a:t>, PhD. José Rafael Tovar Cuevas</a:t>
            </a:r>
          </a:p>
          <a:p>
            <a:pPr lvl="0">
              <a:spcBef>
                <a:spcPts val="0"/>
              </a:spcBef>
            </a:pPr>
            <a:r>
              <a:rPr lang="es-CO" dirty="0" err="1"/>
              <a:t>MSc</a:t>
            </a:r>
            <a:r>
              <a:rPr lang="es-CO" dirty="0"/>
              <a:t>. Andrés Felipe Ochoa Muñoz</a:t>
            </a: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6" name="Google Shape;36;p11"/>
          <p:cNvSpPr txBox="1">
            <a:spLocks noGrp="1"/>
          </p:cNvSpPr>
          <p:nvPr>
            <p:ph type="body" idx="1"/>
          </p:nvPr>
        </p:nvSpPr>
        <p:spPr>
          <a:xfrm>
            <a:off x="368300" y="6261908"/>
            <a:ext cx="11093726" cy="382616"/>
          </a:xfrm>
          <a:prstGeom prst="rect">
            <a:avLst/>
          </a:prstGeom>
          <a:noFill/>
          <a:ln>
            <a:noFill/>
          </a:ln>
        </p:spPr>
        <p:txBody>
          <a:bodyPr spcFirstLastPara="1" wrap="square" lIns="91425" tIns="45700" rIns="91425" bIns="45700" anchor="t" anchorCtr="0">
            <a:noAutofit/>
          </a:bodyPr>
          <a:lstStyle/>
          <a:p>
            <a:pPr marL="228600" lvl="0" indent="-82550">
              <a:spcBef>
                <a:spcPts val="0"/>
              </a:spcBef>
              <a:buNone/>
            </a:pPr>
            <a:r>
              <a:rPr lang="es-MX" sz="1600" i="1" dirty="0"/>
              <a:t>Figura 1</a:t>
            </a:r>
            <a:r>
              <a:rPr lang="es-MX" sz="1600" dirty="0"/>
              <a:t>: Covid-19 en Colombia hasta 01 de enero 2022. (www.larepublica.co/economia)</a:t>
            </a:r>
            <a:endParaRPr sz="1600" dirty="0"/>
          </a:p>
        </p:txBody>
      </p:sp>
      <p:pic>
        <p:nvPicPr>
          <p:cNvPr id="2" name="Imagen 1"/>
          <p:cNvPicPr>
            <a:picLocks noChangeAspect="1"/>
          </p:cNvPicPr>
          <p:nvPr/>
        </p:nvPicPr>
        <p:blipFill rotWithShape="1">
          <a:blip r:embed="rId3">
            <a:extLst>
              <a:ext uri="{28A0092B-C50C-407E-A947-70E740481C1C}">
                <a14:useLocalDpi xmlns:a14="http://schemas.microsoft.com/office/drawing/2010/main" val="0"/>
              </a:ext>
            </a:extLst>
          </a:blip>
          <a:srcRect b="671"/>
          <a:stretch/>
        </p:blipFill>
        <p:spPr>
          <a:xfrm>
            <a:off x="660399" y="709808"/>
            <a:ext cx="6707537" cy="5552100"/>
          </a:xfrm>
          <a:prstGeom prst="rect">
            <a:avLst/>
          </a:prstGeom>
        </p:spPr>
      </p:pic>
      <p:sp>
        <p:nvSpPr>
          <p:cNvPr id="5" name="Google Shape;36;p11"/>
          <p:cNvSpPr txBox="1">
            <a:spLocks/>
          </p:cNvSpPr>
          <p:nvPr/>
        </p:nvSpPr>
        <p:spPr>
          <a:xfrm>
            <a:off x="7511890" y="2183996"/>
            <a:ext cx="4153335" cy="1130300"/>
          </a:xfrm>
          <a:prstGeom prst="rect">
            <a:avLst/>
          </a:prstGeom>
          <a:noFill/>
          <a:ln w="12700">
            <a:solidFill>
              <a:srgbClr val="DE1F26"/>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74650" algn="l" rtl="0">
              <a:lnSpc>
                <a:spcPct val="90000"/>
              </a:lnSpc>
              <a:spcBef>
                <a:spcPts val="1000"/>
              </a:spcBef>
              <a:spcAft>
                <a:spcPts val="0"/>
              </a:spcAft>
              <a:buClr>
                <a:schemeClr val="dk1"/>
              </a:buClr>
              <a:buSzPts val="2300"/>
              <a:buFont typeface="Arial"/>
              <a:buChar char="•"/>
              <a:defRPr sz="23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82550">
              <a:spcBef>
                <a:spcPts val="0"/>
              </a:spcBef>
              <a:buNone/>
            </a:pPr>
            <a:r>
              <a:rPr lang="es-CO" b="1" dirty="0"/>
              <a:t>Cali</a:t>
            </a:r>
            <a:r>
              <a:rPr lang="es-CO" dirty="0"/>
              <a:t>: </a:t>
            </a:r>
          </a:p>
          <a:p>
            <a:pPr marL="488950" indent="-342900">
              <a:spcBef>
                <a:spcPts val="0"/>
              </a:spcBef>
            </a:pPr>
            <a:r>
              <a:rPr lang="es-CO" dirty="0"/>
              <a:t>Casos confirmados: 299.831</a:t>
            </a:r>
          </a:p>
          <a:p>
            <a:pPr marL="488950" indent="-342900">
              <a:spcBef>
                <a:spcPts val="0"/>
              </a:spcBef>
            </a:pPr>
            <a:r>
              <a:rPr lang="es-CO" dirty="0"/>
              <a:t>Casos mortalidad: 7.567</a:t>
            </a:r>
            <a:endParaRPr lang="es-MX" dirty="0"/>
          </a:p>
        </p:txBody>
      </p:sp>
      <p:sp>
        <p:nvSpPr>
          <p:cNvPr id="6" name="Google Shape;36;p11"/>
          <p:cNvSpPr txBox="1">
            <a:spLocks/>
          </p:cNvSpPr>
          <p:nvPr/>
        </p:nvSpPr>
        <p:spPr>
          <a:xfrm>
            <a:off x="7511889" y="3788960"/>
            <a:ext cx="4153336" cy="1130300"/>
          </a:xfrm>
          <a:prstGeom prst="rect">
            <a:avLst/>
          </a:prstGeom>
          <a:noFill/>
          <a:ln w="12700">
            <a:solidFill>
              <a:srgbClr val="DE1F26"/>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74650" algn="l" rtl="0">
              <a:lnSpc>
                <a:spcPct val="90000"/>
              </a:lnSpc>
              <a:spcBef>
                <a:spcPts val="1000"/>
              </a:spcBef>
              <a:spcAft>
                <a:spcPts val="0"/>
              </a:spcAft>
              <a:buClr>
                <a:schemeClr val="dk1"/>
              </a:buClr>
              <a:buSzPts val="2300"/>
              <a:buFont typeface="Arial"/>
              <a:buChar char="•"/>
              <a:defRPr sz="23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82550">
              <a:spcBef>
                <a:spcPts val="0"/>
              </a:spcBef>
              <a:buNone/>
            </a:pPr>
            <a:r>
              <a:rPr lang="es-CO" b="1" dirty="0"/>
              <a:t>Palmira</a:t>
            </a:r>
            <a:r>
              <a:rPr lang="es-CO" dirty="0"/>
              <a:t>:</a:t>
            </a:r>
          </a:p>
          <a:p>
            <a:pPr marL="488950" indent="-342900">
              <a:spcBef>
                <a:spcPts val="0"/>
              </a:spcBef>
            </a:pPr>
            <a:r>
              <a:rPr lang="es-CO" dirty="0"/>
              <a:t>Casos confirmados: 23.667</a:t>
            </a:r>
          </a:p>
          <a:p>
            <a:pPr marL="488950" indent="-342900">
              <a:spcBef>
                <a:spcPts val="0"/>
              </a:spcBef>
            </a:pPr>
            <a:r>
              <a:rPr lang="es-CO" dirty="0"/>
              <a:t>Casos mortalidad: 1.147</a:t>
            </a:r>
            <a:endParaRPr lang="es-MX"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Definiciones conceptuales</a:t>
            </a:r>
          </a:p>
        </p:txBody>
      </p:sp>
      <p:sp>
        <p:nvSpPr>
          <p:cNvPr id="3" name="Marcador de texto 2"/>
          <p:cNvSpPr>
            <a:spLocks noGrp="1"/>
          </p:cNvSpPr>
          <p:nvPr>
            <p:ph type="body" idx="1"/>
          </p:nvPr>
        </p:nvSpPr>
        <p:spPr/>
        <p:txBody>
          <a:bodyPr/>
          <a:lstStyle/>
          <a:p>
            <a:pPr marL="82550" indent="0" algn="just">
              <a:lnSpc>
                <a:spcPct val="100000"/>
              </a:lnSpc>
              <a:buNone/>
            </a:pPr>
            <a:r>
              <a:rPr lang="es-MX" b="1" dirty="0"/>
              <a:t>Percepción de riesgo</a:t>
            </a:r>
            <a:r>
              <a:rPr lang="es-MX" dirty="0"/>
              <a:t>: Se refiere al nivel de conciencia del individuo, visto desde tres dimensiones fundamentales para el estudio, tales como lo son:</a:t>
            </a:r>
          </a:p>
          <a:p>
            <a:pPr algn="just">
              <a:lnSpc>
                <a:spcPct val="150000"/>
              </a:lnSpc>
            </a:pPr>
            <a:r>
              <a:rPr lang="es-MX" b="1" dirty="0"/>
              <a:t>Probabilidad de contagio</a:t>
            </a:r>
            <a:r>
              <a:rPr lang="es-MX" dirty="0"/>
              <a:t>: Valoración subjetiva del individuo de la probabilidad de contraer la enfermedad COVID-19 según su cotidianidad. </a:t>
            </a:r>
          </a:p>
          <a:p>
            <a:pPr algn="just">
              <a:lnSpc>
                <a:spcPct val="150000"/>
              </a:lnSpc>
            </a:pPr>
            <a:r>
              <a:rPr lang="es-MX" b="1" dirty="0"/>
              <a:t>Susceptibilidad</a:t>
            </a:r>
            <a:r>
              <a:rPr lang="es-MX" dirty="0"/>
              <a:t>: Vulnerabilidad del individuo a enfermar de la COVID-19. </a:t>
            </a:r>
          </a:p>
          <a:p>
            <a:pPr algn="just">
              <a:lnSpc>
                <a:spcPct val="150000"/>
              </a:lnSpc>
            </a:pPr>
            <a:r>
              <a:rPr lang="es-MX" b="1" dirty="0"/>
              <a:t>Severidad</a:t>
            </a:r>
            <a:r>
              <a:rPr lang="es-MX" dirty="0"/>
              <a:t>: Gravedad subjetiva de las consecuencias de contraer la enfermedad COVID-19 de cada individuo. </a:t>
            </a:r>
            <a:endParaRPr lang="es-CO" dirty="0"/>
          </a:p>
        </p:txBody>
      </p:sp>
    </p:spTree>
    <p:extLst>
      <p:ext uri="{BB962C8B-B14F-4D97-AF65-F5344CB8AC3E}">
        <p14:creationId xmlns:p14="http://schemas.microsoft.com/office/powerpoint/2010/main" val="577307764"/>
      </p:ext>
    </p:extLst>
  </p:cSld>
  <p:clrMapOvr>
    <a:masterClrMapping/>
  </p:clrMapOvr>
  <p:timing>
    <p:tnLst>
      <p:par>
        <p:cTn id="1" dur="indefinite" restart="never" nodeType="tmRoot"/>
      </p:par>
    </p:tnLst>
  </p:timing>
  <p:extLst>
    <p:ext uri="{6950BFC3-D8DA-4A85-94F7-54DA5524770B}">
      <p188:commentRel xmlns:p188="http://schemas.microsoft.com/office/powerpoint/2018/8/main" xmlns=""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Justificación</a:t>
            </a:r>
          </a:p>
        </p:txBody>
      </p:sp>
      <p:sp>
        <p:nvSpPr>
          <p:cNvPr id="3" name="Marcador de texto 2"/>
          <p:cNvSpPr>
            <a:spLocks noGrp="1"/>
          </p:cNvSpPr>
          <p:nvPr>
            <p:ph type="body" idx="1"/>
          </p:nvPr>
        </p:nvSpPr>
        <p:spPr/>
        <p:txBody>
          <a:bodyPr/>
          <a:lstStyle/>
          <a:p>
            <a:pPr marL="82550" indent="0" algn="just">
              <a:lnSpc>
                <a:spcPct val="150000"/>
              </a:lnSpc>
              <a:buNone/>
            </a:pPr>
            <a:r>
              <a:rPr lang="es-MX" dirty="0"/>
              <a:t>Se plantea tener el conocimiento a cerca de cómo posterior a la cuarentena, los individuos perciben el riesgo ante la enfermedad COVID-19 en las ciudades de Cali y Palmira, siendo necesario para los mandatarios y entes de la salud pública, en la toma de decisiones para la implementación de medidas preventivas más eficaces y averiguar, si los ciudadanos tienen la capacidad de asumir comportamientos preventivos frente al COVID-19. </a:t>
            </a:r>
            <a:endParaRPr lang="es-CO" dirty="0"/>
          </a:p>
        </p:txBody>
      </p:sp>
    </p:spTree>
    <p:extLst>
      <p:ext uri="{BB962C8B-B14F-4D97-AF65-F5344CB8AC3E}">
        <p14:creationId xmlns:p14="http://schemas.microsoft.com/office/powerpoint/2010/main" val="6290724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Objetivo general</a:t>
            </a:r>
          </a:p>
        </p:txBody>
      </p:sp>
      <p:sp>
        <p:nvSpPr>
          <p:cNvPr id="3" name="Marcador de texto 2"/>
          <p:cNvSpPr>
            <a:spLocks noGrp="1"/>
          </p:cNvSpPr>
          <p:nvPr>
            <p:ph type="body" idx="1"/>
          </p:nvPr>
        </p:nvSpPr>
        <p:spPr>
          <a:xfrm>
            <a:off x="526774" y="1946533"/>
            <a:ext cx="11138452" cy="1124116"/>
          </a:xfrm>
        </p:spPr>
        <p:txBody>
          <a:bodyPr/>
          <a:lstStyle/>
          <a:p>
            <a:pPr marL="82550" indent="0" algn="just">
              <a:buNone/>
            </a:pPr>
            <a:r>
              <a:rPr lang="es-MX" dirty="0"/>
              <a:t>Desarrollar un indicador que mida la Percepción de riesgo de los individuos frente a la enfermedad COVID-19 en las ciudades de Cali y Palmira. </a:t>
            </a:r>
            <a:endParaRPr lang="es-CO" dirty="0"/>
          </a:p>
        </p:txBody>
      </p:sp>
      <p:sp>
        <p:nvSpPr>
          <p:cNvPr id="4" name="Marcador de texto 2"/>
          <p:cNvSpPr txBox="1">
            <a:spLocks/>
          </p:cNvSpPr>
          <p:nvPr/>
        </p:nvSpPr>
        <p:spPr>
          <a:xfrm>
            <a:off x="526774" y="3976162"/>
            <a:ext cx="11138452" cy="21836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74650" algn="l" rtl="0">
              <a:lnSpc>
                <a:spcPct val="90000"/>
              </a:lnSpc>
              <a:spcBef>
                <a:spcPts val="1000"/>
              </a:spcBef>
              <a:spcAft>
                <a:spcPts val="0"/>
              </a:spcAft>
              <a:buClr>
                <a:schemeClr val="dk1"/>
              </a:buClr>
              <a:buSzPts val="2300"/>
              <a:buFont typeface="Arial"/>
              <a:buChar char="•"/>
              <a:defRPr sz="23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r>
              <a:rPr lang="es-MX" dirty="0"/>
              <a:t>Construir un </a:t>
            </a:r>
            <a:r>
              <a:rPr lang="es-MX" dirty="0" smtClean="0"/>
              <a:t>indicador </a:t>
            </a:r>
            <a:r>
              <a:rPr lang="es-MX" dirty="0"/>
              <a:t>para cada una de las dimensiones identificadas por los investigadores en salud pública usando dos aproximaciones desde la estadística.</a:t>
            </a:r>
          </a:p>
          <a:p>
            <a:pPr algn="just"/>
            <a:r>
              <a:rPr lang="es-MX" dirty="0"/>
              <a:t>Evaluar empíricamente el desempeño estadístico de los </a:t>
            </a:r>
            <a:r>
              <a:rPr lang="es-MX" dirty="0" smtClean="0"/>
              <a:t>indicadores </a:t>
            </a:r>
            <a:r>
              <a:rPr lang="es-MX" dirty="0"/>
              <a:t>propuestos. </a:t>
            </a:r>
          </a:p>
          <a:p>
            <a:pPr algn="just"/>
            <a:r>
              <a:rPr lang="es-MX" dirty="0"/>
              <a:t>Agrupar los ciudadanos con características sociodemográficas similares y nivel de percepción de riesgo frente a la COVID-19.</a:t>
            </a:r>
            <a:endParaRPr lang="es-CO" dirty="0"/>
          </a:p>
        </p:txBody>
      </p:sp>
      <p:sp>
        <p:nvSpPr>
          <p:cNvPr id="5" name="Título 1"/>
          <p:cNvSpPr txBox="1">
            <a:spLocks/>
          </p:cNvSpPr>
          <p:nvPr/>
        </p:nvSpPr>
        <p:spPr>
          <a:xfrm>
            <a:off x="731490" y="3366021"/>
            <a:ext cx="11138452" cy="8558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2900"/>
              <a:buFont typeface="Calibri"/>
              <a:buNone/>
              <a:defRPr sz="29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s-CO" dirty="0"/>
              <a:t>Objetivos específicos</a:t>
            </a:r>
          </a:p>
        </p:txBody>
      </p:sp>
    </p:spTree>
    <p:extLst>
      <p:ext uri="{BB962C8B-B14F-4D97-AF65-F5344CB8AC3E}">
        <p14:creationId xmlns:p14="http://schemas.microsoft.com/office/powerpoint/2010/main" val="34276351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964883" y="5918352"/>
            <a:ext cx="6249533" cy="564336"/>
          </a:xfrm>
        </p:spPr>
        <p:txBody>
          <a:bodyPr/>
          <a:lstStyle/>
          <a:p>
            <a:pPr marL="82550" indent="0">
              <a:buNone/>
            </a:pPr>
            <a:r>
              <a:rPr lang="es-CO" sz="2000" i="1" dirty="0"/>
              <a:t>Figura 2: </a:t>
            </a:r>
            <a:r>
              <a:rPr lang="es-CO" sz="2000" dirty="0"/>
              <a:t>Diagrama de antecedentes. Elaboración propia</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1" y="1137435"/>
            <a:ext cx="8826499" cy="4783305"/>
          </a:xfrm>
          <a:prstGeom prst="rect">
            <a:avLst/>
          </a:prstGeom>
        </p:spPr>
      </p:pic>
    </p:spTree>
    <p:extLst>
      <p:ext uri="{BB962C8B-B14F-4D97-AF65-F5344CB8AC3E}">
        <p14:creationId xmlns:p14="http://schemas.microsoft.com/office/powerpoint/2010/main" val="3967406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5484" y="1109601"/>
            <a:ext cx="7559256" cy="5007250"/>
          </a:xfrm>
          <a:prstGeom prst="rect">
            <a:avLst/>
          </a:prstGeom>
        </p:spPr>
      </p:pic>
      <p:sp>
        <p:nvSpPr>
          <p:cNvPr id="3" name="Marcador de texto 2"/>
          <p:cNvSpPr>
            <a:spLocks noGrp="1"/>
          </p:cNvSpPr>
          <p:nvPr>
            <p:ph type="body" idx="1"/>
          </p:nvPr>
        </p:nvSpPr>
        <p:spPr>
          <a:xfrm>
            <a:off x="2598390" y="6116851"/>
            <a:ext cx="6440044" cy="554176"/>
          </a:xfrm>
        </p:spPr>
        <p:txBody>
          <a:bodyPr/>
          <a:lstStyle/>
          <a:p>
            <a:pPr marL="82550" indent="0">
              <a:buNone/>
            </a:pPr>
            <a:r>
              <a:rPr lang="es-CO" sz="2000" i="1" dirty="0"/>
              <a:t>Figura 3</a:t>
            </a:r>
            <a:r>
              <a:rPr lang="es-CO" sz="2000" dirty="0"/>
              <a:t>: Diagrama de metodología. Elaboración propia </a:t>
            </a:r>
          </a:p>
        </p:txBody>
      </p:sp>
    </p:spTree>
    <p:extLst>
      <p:ext uri="{BB962C8B-B14F-4D97-AF65-F5344CB8AC3E}">
        <p14:creationId xmlns:p14="http://schemas.microsoft.com/office/powerpoint/2010/main" val="17582418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836555" y="5966856"/>
            <a:ext cx="6262237" cy="609570"/>
          </a:xfrm>
        </p:spPr>
        <p:txBody>
          <a:bodyPr/>
          <a:lstStyle/>
          <a:p>
            <a:pPr marL="82550" indent="0" algn="ctr">
              <a:buNone/>
            </a:pPr>
            <a:r>
              <a:rPr lang="es-CO" sz="2000" i="1" dirty="0"/>
              <a:t>Figura 4</a:t>
            </a:r>
            <a:r>
              <a:rPr lang="es-CO" sz="2000" dirty="0"/>
              <a:t>: Depuración de los datos. Elaboración propia </a:t>
            </a:r>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l="3726" t="5050" r="5267" b="1834"/>
          <a:stretch/>
        </p:blipFill>
        <p:spPr>
          <a:xfrm>
            <a:off x="3312048" y="696356"/>
            <a:ext cx="5311252" cy="5270500"/>
          </a:xfrm>
          <a:prstGeom prst="rect">
            <a:avLst/>
          </a:prstGeom>
        </p:spPr>
      </p:pic>
    </p:spTree>
    <p:extLst>
      <p:ext uri="{BB962C8B-B14F-4D97-AF65-F5344CB8AC3E}">
        <p14:creationId xmlns:p14="http://schemas.microsoft.com/office/powerpoint/2010/main" val="1632782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Construcción de </a:t>
            </a:r>
            <a:r>
              <a:rPr lang="es-CO" dirty="0" smtClean="0"/>
              <a:t>indicador </a:t>
            </a:r>
            <a:r>
              <a:rPr lang="es-CO" dirty="0"/>
              <a:t>(Metodología multivariada)</a:t>
            </a:r>
          </a:p>
        </p:txBody>
      </p:sp>
      <mc:AlternateContent xmlns:mc="http://schemas.openxmlformats.org/markup-compatibility/2006" xmlns:a14="http://schemas.microsoft.com/office/drawing/2010/main">
        <mc:Choice Requires="a14">
          <p:sp>
            <p:nvSpPr>
              <p:cNvPr id="3" name="Marcador de texto 2"/>
              <p:cNvSpPr>
                <a:spLocks noGrp="1"/>
              </p:cNvSpPr>
              <p:nvPr>
                <p:ph type="body" idx="1"/>
              </p:nvPr>
            </p:nvSpPr>
            <p:spPr>
              <a:xfrm>
                <a:off x="526774" y="4091940"/>
                <a:ext cx="11138452" cy="2393136"/>
              </a:xfrm>
            </p:spPr>
            <p:txBody>
              <a:bodyPr/>
              <a:lstStyle/>
              <a:p>
                <a14:m>
                  <m:oMath xmlns:m="http://schemas.openxmlformats.org/officeDocument/2006/math">
                    <m:sSub>
                      <m:sSubPr>
                        <m:ctrlPr>
                          <a:rPr lang="es-CO" sz="2000" i="1">
                            <a:latin typeface="Cambria Math" panose="02040503050406030204" pitchFamily="18" charset="0"/>
                          </a:rPr>
                        </m:ctrlPr>
                      </m:sSubPr>
                      <m:e>
                        <m:r>
                          <a:rPr lang="es-CO" sz="2000" i="1">
                            <a:latin typeface="Cambria Math" panose="02040503050406030204" pitchFamily="18" charset="0"/>
                          </a:rPr>
                          <m:t>𝐼</m:t>
                        </m:r>
                      </m:e>
                      <m:sub>
                        <m:r>
                          <a:rPr lang="es-CO" sz="2000" i="1">
                            <a:latin typeface="Cambria Math" panose="02040503050406030204" pitchFamily="18" charset="0"/>
                          </a:rPr>
                          <m:t>𝑖</m:t>
                        </m:r>
                      </m:sub>
                    </m:sSub>
                  </m:oMath>
                </a14:m>
                <a:r>
                  <a:rPr lang="es-MX" dirty="0"/>
                  <a:t> : I</a:t>
                </a:r>
                <a:r>
                  <a:rPr lang="es-MX" dirty="0" smtClean="0"/>
                  <a:t>ndicador </a:t>
                </a:r>
                <a:r>
                  <a:rPr lang="es-MX" dirty="0"/>
                  <a:t>del individuo i sin transformar. </a:t>
                </a:r>
              </a:p>
              <a:p>
                <a14:m>
                  <m:oMath xmlns:m="http://schemas.openxmlformats.org/officeDocument/2006/math">
                    <m:sSub>
                      <m:sSubPr>
                        <m:ctrlPr>
                          <a:rPr lang="es-CO" i="1">
                            <a:latin typeface="Cambria Math" panose="02040503050406030204" pitchFamily="18" charset="0"/>
                          </a:rPr>
                        </m:ctrlPr>
                      </m:sSubPr>
                      <m:e>
                        <m:r>
                          <a:rPr lang="es-CO" b="0" i="1" smtClean="0">
                            <a:latin typeface="Cambria Math" panose="02040503050406030204" pitchFamily="18" charset="0"/>
                          </a:rPr>
                          <m:t>𝑃</m:t>
                        </m:r>
                      </m:e>
                      <m:sub>
                        <m:r>
                          <a:rPr lang="es-CO" b="0" i="1" smtClean="0">
                            <a:latin typeface="Cambria Math" panose="02040503050406030204" pitchFamily="18" charset="0"/>
                          </a:rPr>
                          <m:t>𝑗</m:t>
                        </m:r>
                      </m:sub>
                    </m:sSub>
                  </m:oMath>
                </a14:m>
                <a:r>
                  <a:rPr lang="es-MX" dirty="0"/>
                  <a:t> : Suma ponderada de los pesos relativos de cada j variable cuantitativa y dicotómica.</a:t>
                </a:r>
              </a:p>
              <a:p>
                <a14:m>
                  <m:oMath xmlns:m="http://schemas.openxmlformats.org/officeDocument/2006/math">
                    <m:sSub>
                      <m:sSubPr>
                        <m:ctrlPr>
                          <a:rPr lang="es-CO" i="1">
                            <a:latin typeface="Cambria Math" panose="02040503050406030204" pitchFamily="18" charset="0"/>
                          </a:rPr>
                        </m:ctrlPr>
                      </m:sSubPr>
                      <m:e>
                        <m:r>
                          <a:rPr lang="es-CO" b="0" i="1" smtClean="0">
                            <a:latin typeface="Cambria Math" panose="02040503050406030204" pitchFamily="18" charset="0"/>
                          </a:rPr>
                          <m:t>𝑋</m:t>
                        </m:r>
                      </m:e>
                      <m:sub>
                        <m:r>
                          <a:rPr lang="es-CO" b="0" i="1" smtClean="0">
                            <a:latin typeface="Cambria Math" panose="02040503050406030204" pitchFamily="18" charset="0"/>
                          </a:rPr>
                          <m:t>𝑗</m:t>
                        </m:r>
                      </m:sub>
                    </m:sSub>
                  </m:oMath>
                </a14:m>
                <a:r>
                  <a:rPr lang="es-MX" dirty="0"/>
                  <a:t> : Variable. </a:t>
                </a:r>
              </a:p>
              <a:p>
                <a:r>
                  <a:rPr lang="es-MX" i="1" dirty="0"/>
                  <a:t>m</a:t>
                </a:r>
                <a:r>
                  <a:rPr lang="es-MX" dirty="0"/>
                  <a:t> : Respuesta a cada una de las m variables </a:t>
                </a:r>
                <a:r>
                  <a:rPr lang="es-MX" dirty="0" smtClean="0"/>
                  <a:t>cuantitativas.</a:t>
                </a:r>
                <a:endParaRPr lang="es-CO" dirty="0"/>
              </a:p>
            </p:txBody>
          </p:sp>
        </mc:Choice>
        <mc:Fallback xmlns="">
          <p:sp>
            <p:nvSpPr>
              <p:cNvPr id="3" name="Marcador de texto 2"/>
              <p:cNvSpPr>
                <a:spLocks noGrp="1" noRot="1" noChangeAspect="1" noMove="1" noResize="1" noEditPoints="1" noAdjustHandles="1" noChangeArrowheads="1" noChangeShapeType="1" noTextEdit="1"/>
              </p:cNvSpPr>
              <p:nvPr>
                <p:ph type="body" idx="1"/>
              </p:nvPr>
            </p:nvSpPr>
            <p:spPr>
              <a:xfrm>
                <a:off x="526774" y="4091940"/>
                <a:ext cx="11138452" cy="2393136"/>
              </a:xfrm>
              <a:blipFill>
                <a:blip r:embed="rId2"/>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2180452" y="2338501"/>
                <a:ext cx="1683088" cy="10500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b="0" i="1" smtClean="0">
                              <a:latin typeface="Cambria Math" panose="02040503050406030204" pitchFamily="18" charset="0"/>
                            </a:rPr>
                          </m:ctrlPr>
                        </m:sSubPr>
                        <m:e>
                          <m:r>
                            <a:rPr lang="es-CO" sz="2400" b="0" i="1" smtClean="0">
                              <a:latin typeface="Cambria Math" panose="02040503050406030204" pitchFamily="18" charset="0"/>
                            </a:rPr>
                            <m:t>𝐼</m:t>
                          </m:r>
                        </m:e>
                        <m:sub>
                          <m:r>
                            <a:rPr lang="es-CO" sz="2400" b="0" i="1" smtClean="0">
                              <a:latin typeface="Cambria Math" panose="02040503050406030204" pitchFamily="18" charset="0"/>
                            </a:rPr>
                            <m:t>𝑖</m:t>
                          </m:r>
                        </m:sub>
                      </m:sSub>
                      <m:r>
                        <a:rPr lang="es-CO" sz="2400" b="0" i="1" smtClean="0">
                          <a:latin typeface="Cambria Math" panose="02040503050406030204" pitchFamily="18" charset="0"/>
                        </a:rPr>
                        <m:t>=</m:t>
                      </m:r>
                      <m:nary>
                        <m:naryPr>
                          <m:chr m:val="∑"/>
                          <m:ctrlPr>
                            <a:rPr lang="es-CO" sz="2400" i="1" smtClean="0">
                              <a:latin typeface="Cambria Math" panose="02040503050406030204" pitchFamily="18" charset="0"/>
                            </a:rPr>
                          </m:ctrlPr>
                        </m:naryPr>
                        <m:sub>
                          <m:r>
                            <m:rPr>
                              <m:brk m:alnAt="23"/>
                            </m:rPr>
                            <a:rPr lang="es-CO" sz="2400" b="0" i="1" smtClean="0">
                              <a:latin typeface="Cambria Math" panose="02040503050406030204" pitchFamily="18" charset="0"/>
                            </a:rPr>
                            <m:t>𝑗</m:t>
                          </m:r>
                          <m:r>
                            <a:rPr lang="es-CO" sz="2400" b="0" i="1" smtClean="0">
                              <a:latin typeface="Cambria Math" panose="02040503050406030204" pitchFamily="18" charset="0"/>
                            </a:rPr>
                            <m:t>=1</m:t>
                          </m:r>
                        </m:sub>
                        <m:sup>
                          <m:r>
                            <a:rPr lang="es-CO" sz="2400" b="0" i="1" smtClean="0">
                              <a:latin typeface="Cambria Math" panose="02040503050406030204" pitchFamily="18" charset="0"/>
                            </a:rPr>
                            <m:t>𝑚</m:t>
                          </m:r>
                        </m:sup>
                        <m:e>
                          <m:sSub>
                            <m:sSubPr>
                              <m:ctrlPr>
                                <a:rPr lang="es-CO" sz="2400" i="1" smtClean="0">
                                  <a:latin typeface="Cambria Math" panose="02040503050406030204" pitchFamily="18" charset="0"/>
                                </a:rPr>
                              </m:ctrlPr>
                            </m:sSubPr>
                            <m:e>
                              <m:r>
                                <a:rPr lang="es-CO" sz="2400" b="0" i="1" smtClean="0">
                                  <a:latin typeface="Cambria Math" panose="02040503050406030204" pitchFamily="18" charset="0"/>
                                </a:rPr>
                                <m:t>𝑃</m:t>
                              </m:r>
                            </m:e>
                            <m:sub>
                              <m:r>
                                <a:rPr lang="es-CO" sz="2400" b="0" i="1" smtClean="0">
                                  <a:latin typeface="Cambria Math" panose="02040503050406030204" pitchFamily="18" charset="0"/>
                                </a:rPr>
                                <m:t>𝑗</m:t>
                              </m:r>
                            </m:sub>
                          </m:sSub>
                          <m:sSub>
                            <m:sSubPr>
                              <m:ctrlPr>
                                <a:rPr lang="es-CO" sz="2400" i="1">
                                  <a:latin typeface="Cambria Math" panose="02040503050406030204" pitchFamily="18" charset="0"/>
                                </a:rPr>
                              </m:ctrlPr>
                            </m:sSubPr>
                            <m:e>
                              <m:r>
                                <a:rPr lang="es-CO" sz="2400" b="0" i="1" smtClean="0">
                                  <a:latin typeface="Cambria Math" panose="02040503050406030204" pitchFamily="18" charset="0"/>
                                </a:rPr>
                                <m:t>𝑋</m:t>
                              </m:r>
                            </m:e>
                            <m:sub>
                              <m:r>
                                <a:rPr lang="es-CO" sz="2400" b="0" i="1" smtClean="0">
                                  <a:latin typeface="Cambria Math" panose="02040503050406030204" pitchFamily="18" charset="0"/>
                                </a:rPr>
                                <m:t>𝑗</m:t>
                              </m:r>
                            </m:sub>
                          </m:sSub>
                        </m:e>
                      </m:nary>
                    </m:oMath>
                  </m:oMathPara>
                </a14:m>
                <a:endParaRPr lang="es-CO"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2180452" y="2338501"/>
                <a:ext cx="1683088" cy="1050031"/>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6223379" y="2486585"/>
                <a:ext cx="4640239" cy="7538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a:rPr lang="es-CO" sz="2400" b="0" i="1" smtClean="0">
                              <a:latin typeface="Cambria Math" panose="02040503050406030204" pitchFamily="18" charset="0"/>
                            </a:rPr>
                            <m:t>𝐼𝑛𝑑𝑖𝑐𝑎𝑑𝑜𝑟</m:t>
                          </m:r>
                        </m:e>
                        <m:sub>
                          <m:r>
                            <a:rPr lang="es-CO" sz="2400" b="0" i="1" smtClean="0">
                              <a:latin typeface="Cambria Math" panose="02040503050406030204" pitchFamily="18" charset="0"/>
                            </a:rPr>
                            <m:t>𝑖</m:t>
                          </m:r>
                        </m:sub>
                      </m:sSub>
                      <m:r>
                        <a:rPr lang="es-CO" sz="2400" b="0" i="1" smtClean="0">
                          <a:latin typeface="Cambria Math" panose="02040503050406030204" pitchFamily="18" charset="0"/>
                        </a:rPr>
                        <m:t>=</m:t>
                      </m:r>
                      <m:f>
                        <m:fPr>
                          <m:ctrlPr>
                            <a:rPr lang="es-CO" sz="2400" i="1" smtClean="0">
                              <a:latin typeface="Cambria Math" panose="02040503050406030204" pitchFamily="18" charset="0"/>
                            </a:rPr>
                          </m:ctrlPr>
                        </m:fPr>
                        <m:num>
                          <m:sSub>
                            <m:sSubPr>
                              <m:ctrlPr>
                                <a:rPr lang="es-CO" sz="2400" i="1" smtClean="0">
                                  <a:latin typeface="Cambria Math" panose="02040503050406030204" pitchFamily="18" charset="0"/>
                                </a:rPr>
                              </m:ctrlPr>
                            </m:sSubPr>
                            <m:e>
                              <m:r>
                                <a:rPr lang="es-CO" sz="2400" b="0" i="1" smtClean="0">
                                  <a:latin typeface="Cambria Math" panose="02040503050406030204" pitchFamily="18" charset="0"/>
                                </a:rPr>
                                <m:t>𝐼</m:t>
                              </m:r>
                            </m:e>
                            <m:sub>
                              <m:r>
                                <a:rPr lang="es-CO" sz="2400" b="0" i="1" smtClean="0">
                                  <a:latin typeface="Cambria Math" panose="02040503050406030204" pitchFamily="18" charset="0"/>
                                </a:rPr>
                                <m:t>𝑖</m:t>
                              </m:r>
                            </m:sub>
                          </m:sSub>
                          <m:r>
                            <a:rPr lang="es-CO" sz="2400" b="0" i="1" smtClean="0">
                              <a:latin typeface="Cambria Math" panose="02040503050406030204" pitchFamily="18" charset="0"/>
                            </a:rPr>
                            <m:t>−</m:t>
                          </m:r>
                          <m:sSub>
                            <m:sSubPr>
                              <m:ctrlPr>
                                <a:rPr lang="es-CO" sz="2400" i="1">
                                  <a:latin typeface="Cambria Math" panose="02040503050406030204" pitchFamily="18" charset="0"/>
                                </a:rPr>
                              </m:ctrlPr>
                            </m:sSubPr>
                            <m:e>
                              <m:r>
                                <a:rPr lang="es-CO" sz="2400" b="0" i="1" smtClean="0">
                                  <a:latin typeface="Cambria Math" panose="02040503050406030204" pitchFamily="18" charset="0"/>
                                </a:rPr>
                                <m:t>𝐼</m:t>
                              </m:r>
                            </m:e>
                            <m:sub>
                              <m:r>
                                <a:rPr lang="es-CO" sz="2400" b="0" i="1" smtClean="0">
                                  <a:latin typeface="Cambria Math" panose="02040503050406030204" pitchFamily="18" charset="0"/>
                                </a:rPr>
                                <m:t>𝑚𝑖𝑛</m:t>
                              </m:r>
                            </m:sub>
                          </m:sSub>
                        </m:num>
                        <m:den>
                          <m:sSub>
                            <m:sSubPr>
                              <m:ctrlPr>
                                <a:rPr lang="es-CO" sz="2400" i="1">
                                  <a:latin typeface="Cambria Math" panose="02040503050406030204" pitchFamily="18" charset="0"/>
                                </a:rPr>
                              </m:ctrlPr>
                            </m:sSubPr>
                            <m:e>
                              <m:r>
                                <a:rPr lang="es-CO" sz="2400" b="0" i="1" smtClean="0">
                                  <a:latin typeface="Cambria Math" panose="02040503050406030204" pitchFamily="18" charset="0"/>
                                </a:rPr>
                                <m:t>𝐼</m:t>
                              </m:r>
                            </m:e>
                            <m:sub>
                              <m:r>
                                <a:rPr lang="es-CO" sz="2400" b="0" i="1" smtClean="0">
                                  <a:latin typeface="Cambria Math" panose="02040503050406030204" pitchFamily="18" charset="0"/>
                                </a:rPr>
                                <m:t>𝑚𝑎𝑥</m:t>
                              </m:r>
                            </m:sub>
                          </m:sSub>
                          <m:r>
                            <a:rPr lang="es-CO" sz="2400" b="0" i="1" smtClean="0">
                              <a:latin typeface="Cambria Math" panose="02040503050406030204" pitchFamily="18" charset="0"/>
                            </a:rPr>
                            <m:t>−</m:t>
                          </m:r>
                          <m:sSub>
                            <m:sSubPr>
                              <m:ctrlPr>
                                <a:rPr lang="es-CO" sz="2400" i="1">
                                  <a:latin typeface="Cambria Math" panose="02040503050406030204" pitchFamily="18" charset="0"/>
                                </a:rPr>
                              </m:ctrlPr>
                            </m:sSubPr>
                            <m:e>
                              <m:r>
                                <a:rPr lang="es-CO" sz="2400" b="0" i="1" smtClean="0">
                                  <a:latin typeface="Cambria Math" panose="02040503050406030204" pitchFamily="18" charset="0"/>
                                </a:rPr>
                                <m:t>𝐼</m:t>
                              </m:r>
                            </m:e>
                            <m:sub>
                              <m:r>
                                <a:rPr lang="es-CO" sz="2400" b="0" i="1" smtClean="0">
                                  <a:latin typeface="Cambria Math" panose="02040503050406030204" pitchFamily="18" charset="0"/>
                                </a:rPr>
                                <m:t>𝑚𝑖𝑛</m:t>
                              </m:r>
                            </m:sub>
                          </m:sSub>
                        </m:den>
                      </m:f>
                      <m:r>
                        <a:rPr lang="es-CO" sz="2400" i="1" smtClean="0">
                          <a:latin typeface="Cambria Math" panose="02040503050406030204" pitchFamily="18" charset="0"/>
                        </a:rPr>
                        <m:t>×</m:t>
                      </m:r>
                      <m:r>
                        <a:rPr lang="es-CO" sz="2400" b="0" i="1" smtClean="0">
                          <a:latin typeface="Cambria Math" panose="02040503050406030204" pitchFamily="18" charset="0"/>
                        </a:rPr>
                        <m:t>100</m:t>
                      </m:r>
                    </m:oMath>
                  </m:oMathPara>
                </a14:m>
                <a:endParaRPr lang="es-CO" sz="24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6223379" y="2486585"/>
                <a:ext cx="4640239" cy="753861"/>
              </a:xfrm>
              <a:prstGeom prst="rect">
                <a:avLst/>
              </a:prstGeom>
              <a:blipFill>
                <a:blip r:embed="rId4"/>
                <a:stretch>
                  <a:fillRect/>
                </a:stretch>
              </a:blipFill>
            </p:spPr>
            <p:txBody>
              <a:bodyPr/>
              <a:lstStyle/>
              <a:p>
                <a:r>
                  <a:rPr lang="es-CO">
                    <a:noFill/>
                  </a:rPr>
                  <a:t> </a:t>
                </a:r>
              </a:p>
            </p:txBody>
          </p:sp>
        </mc:Fallback>
      </mc:AlternateContent>
      <p:cxnSp>
        <p:nvCxnSpPr>
          <p:cNvPr id="8" name="Conector recto de flecha 7"/>
          <p:cNvCxnSpPr/>
          <p:nvPr/>
        </p:nvCxnSpPr>
        <p:spPr>
          <a:xfrm>
            <a:off x="4776716" y="2874648"/>
            <a:ext cx="1050878" cy="0"/>
          </a:xfrm>
          <a:prstGeom prst="straightConnector1">
            <a:avLst/>
          </a:prstGeom>
          <a:ln>
            <a:solidFill>
              <a:srgbClr val="DE1F2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72565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Construcción de </a:t>
            </a:r>
            <a:r>
              <a:rPr lang="es-CO" dirty="0" smtClean="0"/>
              <a:t>indicador </a:t>
            </a:r>
            <a:r>
              <a:rPr lang="es-CO" dirty="0"/>
              <a:t>(Metodología Heurística)</a:t>
            </a:r>
          </a:p>
        </p:txBody>
      </p:sp>
      <mc:AlternateContent xmlns:mc="http://schemas.openxmlformats.org/markup-compatibility/2006" xmlns:a14="http://schemas.microsoft.com/office/drawing/2010/main">
        <mc:Choice Requires="a14">
          <p:sp>
            <p:nvSpPr>
              <p:cNvPr id="3" name="Marcador de texto 2"/>
              <p:cNvSpPr>
                <a:spLocks noGrp="1"/>
              </p:cNvSpPr>
              <p:nvPr>
                <p:ph type="body" idx="1"/>
              </p:nvPr>
            </p:nvSpPr>
            <p:spPr>
              <a:xfrm>
                <a:off x="526774" y="4177537"/>
                <a:ext cx="7245626" cy="2008326"/>
              </a:xfrm>
            </p:spPr>
            <p:txBody>
              <a:bodyPr/>
              <a:lstStyle/>
              <a:p>
                <a14:m>
                  <m:oMath xmlns:m="http://schemas.openxmlformats.org/officeDocument/2006/math">
                    <m:sSub>
                      <m:sSubPr>
                        <m:ctrlPr>
                          <a:rPr lang="es-CO" i="1" smtClean="0">
                            <a:latin typeface="Cambria Math" panose="02040503050406030204" pitchFamily="18" charset="0"/>
                          </a:rPr>
                        </m:ctrlPr>
                      </m:sSubPr>
                      <m:e>
                        <m:r>
                          <m:rPr>
                            <m:sty m:val="p"/>
                          </m:rPr>
                          <a:rPr lang="el-GR" i="1" smtClean="0">
                            <a:latin typeface="Cambria Math" panose="02040503050406030204" pitchFamily="18" charset="0"/>
                          </a:rPr>
                          <m:t>π</m:t>
                        </m:r>
                      </m:e>
                      <m:sub>
                        <m:r>
                          <a:rPr lang="es-CO" b="0" i="1" smtClean="0">
                            <a:latin typeface="Cambria Math" panose="02040503050406030204" pitchFamily="18" charset="0"/>
                          </a:rPr>
                          <m:t>𝑖𝑗</m:t>
                        </m:r>
                      </m:sub>
                    </m:sSub>
                  </m:oMath>
                </a14:m>
                <a:r>
                  <a:rPr lang="es-CO" dirty="0"/>
                  <a:t>: Peso del factor j-</a:t>
                </a:r>
                <a:r>
                  <a:rPr lang="es-CO" dirty="0" err="1"/>
                  <a:t>ésimo</a:t>
                </a:r>
                <a:r>
                  <a:rPr lang="es-CO" dirty="0"/>
                  <a:t> en la dimensión i-</a:t>
                </a:r>
                <a:r>
                  <a:rPr lang="es-CO" dirty="0" err="1"/>
                  <a:t>ésima</a:t>
                </a:r>
                <a:r>
                  <a:rPr lang="es-CO" dirty="0"/>
                  <a:t>.</a:t>
                </a:r>
              </a:p>
              <a:p>
                <a14:m>
                  <m:oMath xmlns:m="http://schemas.openxmlformats.org/officeDocument/2006/math">
                    <m:sSub>
                      <m:sSubPr>
                        <m:ctrlPr>
                          <a:rPr lang="es-CO" i="1">
                            <a:latin typeface="Cambria Math" panose="02040503050406030204" pitchFamily="18" charset="0"/>
                          </a:rPr>
                        </m:ctrlPr>
                      </m:sSubPr>
                      <m:e>
                        <m:r>
                          <a:rPr lang="es-CO" b="0" i="1" smtClean="0">
                            <a:latin typeface="Cambria Math" panose="02040503050406030204" pitchFamily="18" charset="0"/>
                          </a:rPr>
                          <m:t>𝑊</m:t>
                        </m:r>
                      </m:e>
                      <m:sub>
                        <m:r>
                          <a:rPr lang="es-CO" b="0" i="1" smtClean="0">
                            <a:latin typeface="Cambria Math" panose="02040503050406030204" pitchFamily="18" charset="0"/>
                          </a:rPr>
                          <m:t>𝑖</m:t>
                        </m:r>
                      </m:sub>
                    </m:sSub>
                  </m:oMath>
                </a14:m>
                <a:r>
                  <a:rPr lang="es-CO" dirty="0"/>
                  <a:t> : Peso de la i-</a:t>
                </a:r>
                <a:r>
                  <a:rPr lang="es-CO" dirty="0" err="1"/>
                  <a:t>ésima</a:t>
                </a:r>
                <a:r>
                  <a:rPr lang="es-CO" dirty="0"/>
                  <a:t> dimensión. </a:t>
                </a:r>
              </a:p>
              <a:p>
                <a14:m>
                  <m:oMath xmlns:m="http://schemas.openxmlformats.org/officeDocument/2006/math">
                    <m:sSub>
                      <m:sSubPr>
                        <m:ctrlPr>
                          <a:rPr lang="es-CO" i="1">
                            <a:latin typeface="Cambria Math" panose="02040503050406030204" pitchFamily="18" charset="0"/>
                          </a:rPr>
                        </m:ctrlPr>
                      </m:sSubPr>
                      <m:e>
                        <m:r>
                          <a:rPr lang="es-CO" b="0" i="1" smtClean="0">
                            <a:latin typeface="Cambria Math" panose="02040503050406030204" pitchFamily="18" charset="0"/>
                          </a:rPr>
                          <m:t>𝑋</m:t>
                        </m:r>
                      </m:e>
                      <m:sub>
                        <m:r>
                          <a:rPr lang="es-CO" b="0" i="1" smtClean="0">
                            <a:latin typeface="Cambria Math" panose="02040503050406030204" pitchFamily="18" charset="0"/>
                          </a:rPr>
                          <m:t>𝑖𝑗</m:t>
                        </m:r>
                      </m:sub>
                    </m:sSub>
                  </m:oMath>
                </a14:m>
                <a:r>
                  <a:rPr lang="es-CO" dirty="0"/>
                  <a:t>: Respuesta del individuo en el j-</a:t>
                </a:r>
                <a:r>
                  <a:rPr lang="es-CO" dirty="0" err="1"/>
                  <a:t>ésimo</a:t>
                </a:r>
                <a:r>
                  <a:rPr lang="es-CO" dirty="0"/>
                  <a:t> factor de la i-</a:t>
                </a:r>
                <a:r>
                  <a:rPr lang="es-CO" dirty="0" err="1"/>
                  <a:t>ésima</a:t>
                </a:r>
                <a:r>
                  <a:rPr lang="es-CO" dirty="0"/>
                  <a:t> dimensión. </a:t>
                </a:r>
              </a:p>
            </p:txBody>
          </p:sp>
        </mc:Choice>
        <mc:Fallback xmlns="">
          <p:sp>
            <p:nvSpPr>
              <p:cNvPr id="3" name="Marcador de texto 2"/>
              <p:cNvSpPr>
                <a:spLocks noGrp="1" noRot="1" noChangeAspect="1" noMove="1" noResize="1" noEditPoints="1" noAdjustHandles="1" noChangeArrowheads="1" noChangeShapeType="1" noTextEdit="1"/>
              </p:cNvSpPr>
              <p:nvPr>
                <p:ph type="body" idx="1"/>
              </p:nvPr>
            </p:nvSpPr>
            <p:spPr>
              <a:xfrm>
                <a:off x="526774" y="4177537"/>
                <a:ext cx="7245626" cy="2008326"/>
              </a:xfrm>
              <a:blipFill>
                <a:blip r:embed="rId2"/>
                <a:stretch>
                  <a:fillRect r="-673"/>
                </a:stretch>
              </a:blipFill>
            </p:spPr>
            <p:txBody>
              <a:bodyPr/>
              <a:lstStyle/>
              <a:p>
                <a:r>
                  <a:rPr lang="es-CO">
                    <a:noFill/>
                  </a:rPr>
                  <a:t> </a:t>
                </a:r>
              </a:p>
            </p:txBody>
          </p:sp>
        </mc:Fallback>
      </mc:AlternateContent>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097" y="2088253"/>
            <a:ext cx="3588129" cy="3679493"/>
          </a:xfrm>
          <a:prstGeom prst="rect">
            <a:avLst/>
          </a:prstGeom>
        </p:spPr>
      </p:pic>
      <mc:AlternateContent xmlns:mc="http://schemas.openxmlformats.org/markup-compatibility/2006" xmlns:a14="http://schemas.microsoft.com/office/drawing/2010/main">
        <mc:Choice Requires="a14">
          <p:sp>
            <p:nvSpPr>
              <p:cNvPr id="5" name="CuadroTexto 4"/>
              <p:cNvSpPr txBox="1"/>
              <p:nvPr/>
            </p:nvSpPr>
            <p:spPr>
              <a:xfrm>
                <a:off x="2526963" y="2462028"/>
                <a:ext cx="3245247" cy="10877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400" b="0" i="1" smtClean="0">
                          <a:latin typeface="Cambria Math" panose="02040503050406030204" pitchFamily="18" charset="0"/>
                        </a:rPr>
                        <m:t>𝐼𝑃𝑅𝐺</m:t>
                      </m:r>
                      <m:r>
                        <a:rPr lang="es-CO" sz="2400" b="0" i="1" smtClean="0">
                          <a:latin typeface="Cambria Math" panose="02040503050406030204" pitchFamily="18" charset="0"/>
                        </a:rPr>
                        <m:t>=</m:t>
                      </m:r>
                      <m:nary>
                        <m:naryPr>
                          <m:chr m:val="∑"/>
                          <m:ctrlPr>
                            <a:rPr lang="es-CO" sz="2400" i="1" smtClean="0">
                              <a:latin typeface="Cambria Math" panose="02040503050406030204" pitchFamily="18" charset="0"/>
                            </a:rPr>
                          </m:ctrlPr>
                        </m:naryPr>
                        <m:sub>
                          <m:r>
                            <m:rPr>
                              <m:brk m:alnAt="23"/>
                            </m:rPr>
                            <a:rPr lang="es-CO" sz="2400" b="0" i="1" smtClean="0">
                              <a:latin typeface="Cambria Math" panose="02040503050406030204" pitchFamily="18" charset="0"/>
                            </a:rPr>
                            <m:t>𝑖</m:t>
                          </m:r>
                          <m:r>
                            <a:rPr lang="es-CO" sz="2400" b="0" i="1" smtClean="0">
                              <a:latin typeface="Cambria Math" panose="02040503050406030204" pitchFamily="18" charset="0"/>
                            </a:rPr>
                            <m:t>=1</m:t>
                          </m:r>
                        </m:sub>
                        <m:sup>
                          <m:r>
                            <a:rPr lang="es-CO" sz="2400" b="0" i="1" smtClean="0">
                              <a:latin typeface="Cambria Math" panose="02040503050406030204" pitchFamily="18" charset="0"/>
                            </a:rPr>
                            <m:t>𝑘</m:t>
                          </m:r>
                        </m:sup>
                        <m:e>
                          <m:nary>
                            <m:naryPr>
                              <m:chr m:val="∑"/>
                              <m:ctrlPr>
                                <a:rPr lang="es-CO" sz="2400" i="1" smtClean="0">
                                  <a:latin typeface="Cambria Math" panose="02040503050406030204" pitchFamily="18" charset="0"/>
                                </a:rPr>
                              </m:ctrlPr>
                            </m:naryPr>
                            <m:sub>
                              <m:r>
                                <m:rPr>
                                  <m:brk m:alnAt="23"/>
                                </m:rPr>
                                <a:rPr lang="es-CO" sz="2400" b="0" i="1" smtClean="0">
                                  <a:latin typeface="Cambria Math" panose="02040503050406030204" pitchFamily="18" charset="0"/>
                                </a:rPr>
                                <m:t>𝑗</m:t>
                              </m:r>
                              <m:r>
                                <a:rPr lang="es-CO" sz="2400" b="0" i="1" smtClean="0">
                                  <a:latin typeface="Cambria Math" panose="02040503050406030204" pitchFamily="18" charset="0"/>
                                </a:rPr>
                                <m:t>=1</m:t>
                              </m:r>
                            </m:sub>
                            <m:sup>
                              <m:sSub>
                                <m:sSubPr>
                                  <m:ctrlPr>
                                    <a:rPr lang="es-CO" sz="2400" i="1" smtClean="0">
                                      <a:latin typeface="Cambria Math" panose="02040503050406030204" pitchFamily="18" charset="0"/>
                                    </a:rPr>
                                  </m:ctrlPr>
                                </m:sSubPr>
                                <m:e>
                                  <m:r>
                                    <a:rPr lang="es-CO" sz="2400" b="0" i="1" smtClean="0">
                                      <a:latin typeface="Cambria Math" panose="02040503050406030204" pitchFamily="18" charset="0"/>
                                    </a:rPr>
                                    <m:t>𝑚</m:t>
                                  </m:r>
                                </m:e>
                                <m:sub>
                                  <m:r>
                                    <a:rPr lang="es-CO" sz="2400" b="0" i="1" smtClean="0">
                                      <a:latin typeface="Cambria Math" panose="02040503050406030204" pitchFamily="18" charset="0"/>
                                    </a:rPr>
                                    <m:t>𝑘</m:t>
                                  </m:r>
                                </m:sub>
                              </m:sSub>
                            </m:sup>
                            <m:e>
                              <m:sSub>
                                <m:sSubPr>
                                  <m:ctrlPr>
                                    <a:rPr lang="es-CO" sz="2400" i="1" smtClean="0">
                                      <a:latin typeface="Cambria Math" panose="02040503050406030204" pitchFamily="18" charset="0"/>
                                    </a:rPr>
                                  </m:ctrlPr>
                                </m:sSubPr>
                                <m:e>
                                  <m:r>
                                    <m:rPr>
                                      <m:sty m:val="p"/>
                                    </m:rPr>
                                    <a:rPr lang="el-GR" sz="2400" i="1" smtClean="0">
                                      <a:latin typeface="Cambria Math" panose="02040503050406030204" pitchFamily="18" charset="0"/>
                                    </a:rPr>
                                    <m:t>π</m:t>
                                  </m:r>
                                </m:e>
                                <m:sub>
                                  <m:r>
                                    <a:rPr lang="es-CO" sz="2400" b="0" i="1" smtClean="0">
                                      <a:latin typeface="Cambria Math" panose="02040503050406030204" pitchFamily="18" charset="0"/>
                                    </a:rPr>
                                    <m:t>𝑖𝑗</m:t>
                                  </m:r>
                                </m:sub>
                              </m:sSub>
                              <m:sSub>
                                <m:sSubPr>
                                  <m:ctrlPr>
                                    <a:rPr lang="es-CO" sz="2400" i="1">
                                      <a:latin typeface="Cambria Math" panose="02040503050406030204" pitchFamily="18" charset="0"/>
                                    </a:rPr>
                                  </m:ctrlPr>
                                </m:sSubPr>
                                <m:e>
                                  <m:r>
                                    <a:rPr lang="es-CO" sz="2400" b="0" i="1" smtClean="0">
                                      <a:latin typeface="Cambria Math" panose="02040503050406030204" pitchFamily="18" charset="0"/>
                                    </a:rPr>
                                    <m:t>𝑊</m:t>
                                  </m:r>
                                </m:e>
                                <m:sub>
                                  <m:r>
                                    <a:rPr lang="es-CO" sz="2400" b="0" i="1" smtClean="0">
                                      <a:latin typeface="Cambria Math" panose="02040503050406030204" pitchFamily="18" charset="0"/>
                                    </a:rPr>
                                    <m:t>𝑖</m:t>
                                  </m:r>
                                </m:sub>
                              </m:sSub>
                              <m:sSub>
                                <m:sSubPr>
                                  <m:ctrlPr>
                                    <a:rPr lang="es-CO" sz="2400" i="1">
                                      <a:latin typeface="Cambria Math" panose="02040503050406030204" pitchFamily="18" charset="0"/>
                                    </a:rPr>
                                  </m:ctrlPr>
                                </m:sSubPr>
                                <m:e>
                                  <m:r>
                                    <a:rPr lang="es-CO" sz="2400" b="0" i="1" smtClean="0">
                                      <a:latin typeface="Cambria Math" panose="02040503050406030204" pitchFamily="18" charset="0"/>
                                    </a:rPr>
                                    <m:t>𝑋</m:t>
                                  </m:r>
                                </m:e>
                                <m:sub>
                                  <m:r>
                                    <a:rPr lang="es-CO" sz="2400" b="0" i="1" smtClean="0">
                                      <a:latin typeface="Cambria Math" panose="02040503050406030204" pitchFamily="18" charset="0"/>
                                    </a:rPr>
                                    <m:t>𝑖𝑗</m:t>
                                  </m:r>
                                </m:sub>
                              </m:sSub>
                            </m:e>
                          </m:nary>
                        </m:e>
                      </m:nary>
                    </m:oMath>
                  </m:oMathPara>
                </a14:m>
                <a:endParaRPr lang="es-CO"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2526963" y="2462028"/>
                <a:ext cx="3245247" cy="1087734"/>
              </a:xfrm>
              <a:prstGeom prst="rect">
                <a:avLst/>
              </a:prstGeom>
              <a:blipFill>
                <a:blip r:embed="rId4"/>
                <a:stretch>
                  <a:fillRect/>
                </a:stretch>
              </a:blipFill>
            </p:spPr>
            <p:txBody>
              <a:bodyPr/>
              <a:lstStyle/>
              <a:p>
                <a:r>
                  <a:rPr lang="es-CO">
                    <a:noFill/>
                  </a:rPr>
                  <a:t> </a:t>
                </a:r>
              </a:p>
            </p:txBody>
          </p:sp>
        </mc:Fallback>
      </mc:AlternateContent>
      <p:sp>
        <p:nvSpPr>
          <p:cNvPr id="6" name="Marcador de texto 2"/>
          <p:cNvSpPr txBox="1">
            <a:spLocks/>
          </p:cNvSpPr>
          <p:nvPr/>
        </p:nvSpPr>
        <p:spPr>
          <a:xfrm>
            <a:off x="8077097" y="5881078"/>
            <a:ext cx="3588129" cy="6095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74650" algn="l" rtl="0">
              <a:lnSpc>
                <a:spcPct val="90000"/>
              </a:lnSpc>
              <a:spcBef>
                <a:spcPts val="1000"/>
              </a:spcBef>
              <a:spcAft>
                <a:spcPts val="0"/>
              </a:spcAft>
              <a:buClr>
                <a:schemeClr val="dk1"/>
              </a:buClr>
              <a:buSzPts val="2300"/>
              <a:buFont typeface="Arial"/>
              <a:buChar char="•"/>
              <a:defRPr sz="23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82550" indent="0" algn="ctr">
              <a:buNone/>
            </a:pPr>
            <a:r>
              <a:rPr lang="es-CO" sz="2000" i="1" dirty="0"/>
              <a:t>Figura 5</a:t>
            </a:r>
            <a:r>
              <a:rPr lang="es-CO" sz="2000" dirty="0"/>
              <a:t>: Obtención de pesos</a:t>
            </a:r>
          </a:p>
        </p:txBody>
      </p:sp>
    </p:spTree>
    <p:extLst>
      <p:ext uri="{BB962C8B-B14F-4D97-AF65-F5344CB8AC3E}">
        <p14:creationId xmlns:p14="http://schemas.microsoft.com/office/powerpoint/2010/main" val="7654492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Ecuación del </a:t>
            </a:r>
            <a:r>
              <a:rPr lang="es-CO" dirty="0" smtClean="0"/>
              <a:t>indicador</a:t>
            </a:r>
            <a:endParaRPr lang="es-CO" dirty="0"/>
          </a:p>
        </p:txBody>
      </p:sp>
      <mc:AlternateContent xmlns:mc="http://schemas.openxmlformats.org/markup-compatibility/2006" xmlns:a14="http://schemas.microsoft.com/office/drawing/2010/main">
        <mc:Choice Requires="a14">
          <p:sp>
            <p:nvSpPr>
              <p:cNvPr id="3" name="Marcador de texto 2"/>
              <p:cNvSpPr>
                <a:spLocks noGrp="1"/>
              </p:cNvSpPr>
              <p:nvPr>
                <p:ph type="body" idx="1"/>
              </p:nvPr>
            </p:nvSpPr>
            <p:spPr>
              <a:xfrm>
                <a:off x="688742" y="2088253"/>
                <a:ext cx="10814516" cy="1805139"/>
              </a:xfrm>
              <a:ln>
                <a:solidFill>
                  <a:srgbClr val="DE1F26"/>
                </a:solidFill>
              </a:ln>
            </p:spPr>
            <p:txBody>
              <a:bodyPr/>
              <a:lstStyle/>
              <a:p>
                <a:pPr marL="82550" indent="0">
                  <a:buNone/>
                </a:pPr>
                <a:r>
                  <a:rPr lang="es-CO" b="1" dirty="0" smtClean="0"/>
                  <a:t>Metodología Multivariada (AFM)</a:t>
                </a:r>
                <a:endParaRPr lang="es-CO" b="1" dirty="0"/>
              </a:p>
              <a:p>
                <a:pPr marL="82550" indent="0" algn="just">
                  <a:buNone/>
                </a:pPr>
                <a:endParaRPr lang="es-CO" sz="2000" b="1" dirty="0"/>
              </a:p>
              <a:p>
                <a:pPr marL="82550" indent="0" algn="just">
                  <a:buNone/>
                </a:pPr>
                <a14:m>
                  <m:oMathPara xmlns:m="http://schemas.openxmlformats.org/officeDocument/2006/math">
                    <m:oMathParaPr>
                      <m:jc m:val="centerGroup"/>
                    </m:oMathParaPr>
                    <m:oMath xmlns:m="http://schemas.openxmlformats.org/officeDocument/2006/math">
                      <m:sSub>
                        <m:sSubPr>
                          <m:ctrlPr>
                            <a:rPr lang="es-CO" sz="2000" i="1" smtClean="0">
                              <a:latin typeface="Cambria Math" panose="02040503050406030204" pitchFamily="18" charset="0"/>
                            </a:rPr>
                          </m:ctrlPr>
                        </m:sSubPr>
                        <m:e>
                          <m:sSub>
                            <m:sSubPr>
                              <m:ctrlPr>
                                <a:rPr lang="es-CO" sz="2000" i="1">
                                  <a:latin typeface="Cambria Math" panose="02040503050406030204" pitchFamily="18" charset="0"/>
                                </a:rPr>
                              </m:ctrlPr>
                            </m:sSubPr>
                            <m:e>
                              <m:r>
                                <a:rPr lang="es-CO" sz="2000" b="0" i="1" smtClean="0">
                                  <a:latin typeface="Cambria Math" panose="02040503050406030204" pitchFamily="18" charset="0"/>
                                </a:rPr>
                                <m:t>𝐼𝑃𝑅𝐺</m:t>
                              </m:r>
                            </m:e>
                            <m:sub>
                              <m:r>
                                <a:rPr lang="es-CO" sz="2000" i="1">
                                  <a:latin typeface="Cambria Math" panose="02040503050406030204" pitchFamily="18" charset="0"/>
                                </a:rPr>
                                <m:t>𝑖</m:t>
                              </m:r>
                            </m:sub>
                          </m:sSub>
                          <m:r>
                            <a:rPr lang="es-CO" sz="2000" b="0" i="1" smtClean="0">
                              <a:latin typeface="Cambria Math" panose="02040503050406030204" pitchFamily="18" charset="0"/>
                            </a:rPr>
                            <m:t>=0.058</m:t>
                          </m:r>
                          <m:r>
                            <a:rPr lang="es-CO" sz="2000" b="0" i="1" smtClean="0">
                              <a:latin typeface="Cambria Math" panose="02040503050406030204" pitchFamily="18" charset="0"/>
                            </a:rPr>
                            <m:t>𝑥</m:t>
                          </m:r>
                        </m:e>
                        <m:sub>
                          <m:r>
                            <a:rPr lang="es-CO" sz="2000" b="0" i="1" smtClean="0">
                              <a:latin typeface="Cambria Math" panose="02040503050406030204" pitchFamily="18" charset="0"/>
                            </a:rPr>
                            <m:t>𝑖</m:t>
                          </m:r>
                          <m:r>
                            <a:rPr lang="es-CO" sz="2000" b="0" i="1" smtClean="0">
                              <a:latin typeface="Cambria Math" panose="02040503050406030204" pitchFamily="18" charset="0"/>
                            </a:rPr>
                            <m:t>71</m:t>
                          </m:r>
                        </m:sub>
                      </m:sSub>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0.05</m:t>
                          </m:r>
                          <m:r>
                            <a:rPr lang="es-CO" sz="2000" b="0" i="1" smtClean="0">
                              <a:latin typeface="Cambria Math" panose="02040503050406030204" pitchFamily="18" charset="0"/>
                            </a:rPr>
                            <m:t>7</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72</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0.05</m:t>
                          </m:r>
                          <m:r>
                            <a:rPr lang="es-CO" sz="2000" b="0" i="1" smtClean="0">
                              <a:latin typeface="Cambria Math" panose="02040503050406030204" pitchFamily="18" charset="0"/>
                            </a:rPr>
                            <m:t>7</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73</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49</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74</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19</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75</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42</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76</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3</m:t>
                          </m:r>
                          <m:r>
                            <a:rPr lang="es-CO" sz="2000" i="1">
                              <a:latin typeface="Cambria Math" panose="02040503050406030204" pitchFamily="18" charset="0"/>
                            </a:rPr>
                            <m:t>8</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77</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66</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81</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0.08</m:t>
                          </m:r>
                          <m:r>
                            <a:rPr lang="es-CO" sz="2000" b="0" i="1" smtClean="0">
                              <a:latin typeface="Cambria Math" panose="02040503050406030204" pitchFamily="18" charset="0"/>
                            </a:rPr>
                            <m:t>6</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82</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69</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83</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8</m:t>
                          </m:r>
                          <m:r>
                            <a:rPr lang="es-CO" sz="2000" i="1">
                              <a:latin typeface="Cambria Math" panose="02040503050406030204" pitchFamily="18" charset="0"/>
                            </a:rPr>
                            <m:t>8</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84</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37</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9</m:t>
                          </m:r>
                          <m:r>
                            <a:rPr lang="es-CO" sz="2000" i="1">
                              <a:latin typeface="Cambria Math" panose="02040503050406030204" pitchFamily="18" charset="0"/>
                            </a:rPr>
                            <m:t>1</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0.08</m:t>
                          </m:r>
                          <m:r>
                            <a:rPr lang="es-CO" sz="2000" b="0" i="1" smtClean="0">
                              <a:latin typeface="Cambria Math" panose="02040503050406030204" pitchFamily="18" charset="0"/>
                            </a:rPr>
                            <m:t>6</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92</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0.08</m:t>
                          </m:r>
                          <m:r>
                            <a:rPr lang="es-CO" sz="2000" b="0" i="1" smtClean="0">
                              <a:latin typeface="Cambria Math" panose="02040503050406030204" pitchFamily="18" charset="0"/>
                            </a:rPr>
                            <m:t>6</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93</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0.08</m:t>
                          </m:r>
                          <m:r>
                            <a:rPr lang="es-CO" sz="2000" b="0" i="1" smtClean="0">
                              <a:latin typeface="Cambria Math" panose="02040503050406030204" pitchFamily="18" charset="0"/>
                            </a:rPr>
                            <m:t>9</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94</m:t>
                          </m:r>
                        </m:sub>
                      </m:sSub>
                      <m:r>
                        <a:rPr lang="es-CO"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71</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b="0" i="1" smtClean="0">
                              <a:latin typeface="Cambria Math" panose="02040503050406030204" pitchFamily="18" charset="0"/>
                            </a:rPr>
                            <m:t>95</m:t>
                          </m:r>
                        </m:sub>
                      </m:sSub>
                    </m:oMath>
                  </m:oMathPara>
                </a14:m>
                <a:endParaRPr lang="es-CO" dirty="0"/>
              </a:p>
            </p:txBody>
          </p:sp>
        </mc:Choice>
        <mc:Fallback xmlns="">
          <p:sp>
            <p:nvSpPr>
              <p:cNvPr id="3" name="Marcador de texto 2"/>
              <p:cNvSpPr>
                <a:spLocks noGrp="1" noRot="1" noChangeAspect="1" noMove="1" noResize="1" noEditPoints="1" noAdjustHandles="1" noChangeArrowheads="1" noChangeShapeType="1" noTextEdit="1"/>
              </p:cNvSpPr>
              <p:nvPr>
                <p:ph type="body" idx="1"/>
              </p:nvPr>
            </p:nvSpPr>
            <p:spPr>
              <a:xfrm>
                <a:off x="688742" y="2088253"/>
                <a:ext cx="10814516" cy="1805139"/>
              </a:xfrm>
              <a:blipFill>
                <a:blip r:embed="rId3"/>
                <a:stretch>
                  <a:fillRect/>
                </a:stretch>
              </a:blipFill>
              <a:ln>
                <a:solidFill>
                  <a:srgbClr val="DE1F26"/>
                </a:solid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 name="Marcador de texto 2"/>
              <p:cNvSpPr txBox="1">
                <a:spLocks/>
              </p:cNvSpPr>
              <p:nvPr/>
            </p:nvSpPr>
            <p:spPr>
              <a:xfrm>
                <a:off x="688742" y="4178121"/>
                <a:ext cx="10814516" cy="1867838"/>
              </a:xfrm>
              <a:prstGeom prst="rect">
                <a:avLst/>
              </a:prstGeom>
              <a:noFill/>
              <a:ln>
                <a:solidFill>
                  <a:srgbClr val="DE1F26"/>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74650" algn="l" rtl="0">
                  <a:lnSpc>
                    <a:spcPct val="90000"/>
                  </a:lnSpc>
                  <a:spcBef>
                    <a:spcPts val="1000"/>
                  </a:spcBef>
                  <a:spcAft>
                    <a:spcPts val="0"/>
                  </a:spcAft>
                  <a:buClr>
                    <a:schemeClr val="dk1"/>
                  </a:buClr>
                  <a:buSzPts val="2300"/>
                  <a:buFont typeface="Arial"/>
                  <a:buChar char="•"/>
                  <a:defRPr sz="23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82550" indent="0">
                  <a:buFont typeface="Arial"/>
                  <a:buNone/>
                </a:pPr>
                <a:r>
                  <a:rPr lang="es-CO" b="1" dirty="0" smtClean="0"/>
                  <a:t>Metodología Heurística</a:t>
                </a:r>
              </a:p>
              <a:p>
                <a:pPr marL="82550" indent="0">
                  <a:buFont typeface="Arial"/>
                  <a:buNone/>
                </a:pPr>
                <a:endParaRPr lang="es-CO" b="1" dirty="0" smtClean="0"/>
              </a:p>
              <a:p>
                <a:pPr marL="82550" indent="0">
                  <a:buFont typeface="Arial"/>
                  <a:buNone/>
                </a:pPr>
                <a14:m>
                  <m:oMathPara xmlns:m="http://schemas.openxmlformats.org/officeDocument/2006/math">
                    <m:oMathParaPr>
                      <m:jc m:val="centerGroup"/>
                    </m:oMathParaPr>
                    <m:oMath xmlns:m="http://schemas.openxmlformats.org/officeDocument/2006/math">
                      <m:sSub>
                        <m:sSubPr>
                          <m:ctrlPr>
                            <a:rPr lang="es-CO" sz="2000" i="1" smtClean="0">
                              <a:latin typeface="Cambria Math" panose="02040503050406030204" pitchFamily="18" charset="0"/>
                            </a:rPr>
                          </m:ctrlPr>
                        </m:sSubPr>
                        <m:e>
                          <m:sSub>
                            <m:sSubPr>
                              <m:ctrlPr>
                                <a:rPr lang="es-CO" sz="2000" i="1">
                                  <a:latin typeface="Cambria Math" panose="02040503050406030204" pitchFamily="18" charset="0"/>
                                </a:rPr>
                              </m:ctrlPr>
                            </m:sSubPr>
                            <m:e>
                              <m:r>
                                <a:rPr lang="es-CO" sz="2000" i="1" smtClean="0">
                                  <a:latin typeface="Cambria Math" panose="02040503050406030204" pitchFamily="18" charset="0"/>
                                </a:rPr>
                                <m:t>𝐼𝑃𝑅𝐺</m:t>
                              </m:r>
                            </m:e>
                            <m:sub>
                              <m:r>
                                <a:rPr lang="es-CO" sz="2000" i="1">
                                  <a:latin typeface="Cambria Math" panose="02040503050406030204" pitchFamily="18" charset="0"/>
                                </a:rPr>
                                <m:t>𝑖</m:t>
                              </m:r>
                            </m:sub>
                          </m:sSub>
                          <m:r>
                            <a:rPr lang="es-CO" sz="2000" i="1" smtClean="0">
                              <a:latin typeface="Cambria Math" panose="02040503050406030204" pitchFamily="18" charset="0"/>
                            </a:rPr>
                            <m:t>=0.0</m:t>
                          </m:r>
                          <m:r>
                            <a:rPr lang="es-CO" sz="2000" b="0" i="1" smtClean="0">
                              <a:latin typeface="Cambria Math" panose="02040503050406030204" pitchFamily="18" charset="0"/>
                            </a:rPr>
                            <m:t>61</m:t>
                          </m:r>
                          <m:r>
                            <a:rPr lang="es-CO" sz="2000" i="1" smtClean="0">
                              <a:latin typeface="Cambria Math" panose="02040503050406030204" pitchFamily="18" charset="0"/>
                            </a:rPr>
                            <m:t>𝑥</m:t>
                          </m:r>
                        </m:e>
                        <m:sub>
                          <m:r>
                            <a:rPr lang="es-CO" sz="2000" i="1" smtClean="0">
                              <a:latin typeface="Cambria Math" panose="02040503050406030204" pitchFamily="18" charset="0"/>
                            </a:rPr>
                            <m:t>𝑖</m:t>
                          </m:r>
                          <m:r>
                            <a:rPr lang="es-CO" sz="2000" i="1" smtClean="0">
                              <a:latin typeface="Cambria Math" panose="02040503050406030204" pitchFamily="18" charset="0"/>
                            </a:rPr>
                            <m:t>71</m:t>
                          </m:r>
                        </m:sub>
                      </m:sSub>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0.05</m:t>
                          </m:r>
                          <m:r>
                            <a:rPr lang="es-CO" sz="2000" b="0" i="1" smtClean="0">
                              <a:latin typeface="Cambria Math" panose="02040503050406030204" pitchFamily="18" charset="0"/>
                            </a:rPr>
                            <m:t>5</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72</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61</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73</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i="1" smtClean="0">
                              <a:latin typeface="Cambria Math" panose="02040503050406030204" pitchFamily="18" charset="0"/>
                            </a:rPr>
                            <m:t>4</m:t>
                          </m:r>
                          <m:r>
                            <a:rPr lang="es-CO" sz="2000" b="0" i="1" smtClean="0">
                              <a:latin typeface="Cambria Math" panose="02040503050406030204" pitchFamily="18" charset="0"/>
                            </a:rPr>
                            <m:t>8</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74</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4</m:t>
                          </m:r>
                          <m:r>
                            <a:rPr lang="es-CO" sz="2000" i="1" smtClean="0">
                              <a:latin typeface="Cambria Math" panose="02040503050406030204" pitchFamily="18" charset="0"/>
                            </a:rPr>
                            <m:t>1</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75</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55</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76</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55</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a:latin typeface="Cambria Math" panose="02040503050406030204" pitchFamily="18" charset="0"/>
                            </a:rPr>
                            <m:t>77</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80</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81</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92</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82</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i="1" smtClean="0">
                              <a:latin typeface="Cambria Math" panose="02040503050406030204" pitchFamily="18" charset="0"/>
                            </a:rPr>
                            <m:t>9</m:t>
                          </m:r>
                          <m:r>
                            <a:rPr lang="es-CO" sz="2000" b="0" i="1" smtClean="0">
                              <a:latin typeface="Cambria Math" panose="02040503050406030204" pitchFamily="18" charset="0"/>
                            </a:rPr>
                            <m:t>2</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83</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69</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84</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65</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9</m:t>
                          </m:r>
                          <m:r>
                            <a:rPr lang="es-CO" sz="2000" i="1">
                              <a:latin typeface="Cambria Math" panose="02040503050406030204" pitchFamily="18" charset="0"/>
                            </a:rPr>
                            <m:t>1</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65</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92</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57</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93</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4</m:t>
                          </m:r>
                          <m:r>
                            <a:rPr lang="es-CO" sz="2000" i="1" smtClean="0">
                              <a:latin typeface="Cambria Math" panose="02040503050406030204" pitchFamily="18" charset="0"/>
                            </a:rPr>
                            <m:t>9</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94</m:t>
                          </m:r>
                        </m:sub>
                      </m:sSub>
                      <m:r>
                        <a:rPr lang="es-CO" sz="200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0.0</m:t>
                          </m:r>
                          <m:r>
                            <a:rPr lang="es-CO" sz="2000" b="0" i="1" smtClean="0">
                              <a:latin typeface="Cambria Math" panose="02040503050406030204" pitchFamily="18" charset="0"/>
                            </a:rPr>
                            <m:t>5</m:t>
                          </m:r>
                          <m:r>
                            <a:rPr lang="es-CO" sz="2000" i="1" smtClean="0">
                              <a:latin typeface="Cambria Math" panose="02040503050406030204" pitchFamily="18" charset="0"/>
                            </a:rPr>
                            <m:t>7</m:t>
                          </m:r>
                          <m:r>
                            <a:rPr lang="es-CO" sz="2000" i="1">
                              <a:latin typeface="Cambria Math" panose="02040503050406030204" pitchFamily="18" charset="0"/>
                            </a:rPr>
                            <m:t>𝑥</m:t>
                          </m:r>
                        </m:e>
                        <m:sub>
                          <m:r>
                            <a:rPr lang="es-CO" sz="2000" i="1">
                              <a:latin typeface="Cambria Math" panose="02040503050406030204" pitchFamily="18" charset="0"/>
                            </a:rPr>
                            <m:t>𝑖</m:t>
                          </m:r>
                          <m:r>
                            <a:rPr lang="es-CO" sz="2000" i="1" smtClean="0">
                              <a:latin typeface="Cambria Math" panose="02040503050406030204" pitchFamily="18" charset="0"/>
                            </a:rPr>
                            <m:t>95</m:t>
                          </m:r>
                        </m:sub>
                      </m:sSub>
                    </m:oMath>
                  </m:oMathPara>
                </a14:m>
                <a:endParaRPr lang="es-CO" dirty="0"/>
              </a:p>
            </p:txBody>
          </p:sp>
        </mc:Choice>
        <mc:Fallback xmlns="">
          <p:sp>
            <p:nvSpPr>
              <p:cNvPr id="4" name="Marcador de texto 2"/>
              <p:cNvSpPr txBox="1">
                <a:spLocks noRot="1" noChangeAspect="1" noMove="1" noResize="1" noEditPoints="1" noAdjustHandles="1" noChangeArrowheads="1" noChangeShapeType="1" noTextEdit="1"/>
              </p:cNvSpPr>
              <p:nvPr/>
            </p:nvSpPr>
            <p:spPr>
              <a:xfrm>
                <a:off x="688742" y="4178121"/>
                <a:ext cx="10814516" cy="1867838"/>
              </a:xfrm>
              <a:prstGeom prst="rect">
                <a:avLst/>
              </a:prstGeom>
              <a:blipFill>
                <a:blip r:embed="rId4"/>
                <a:stretch>
                  <a:fillRect/>
                </a:stretch>
              </a:blipFill>
              <a:ln>
                <a:solidFill>
                  <a:srgbClr val="DE1F26"/>
                </a:solidFill>
              </a:ln>
            </p:spPr>
            <p:txBody>
              <a:bodyPr/>
              <a:lstStyle/>
              <a:p>
                <a:r>
                  <a:rPr lang="es-CO">
                    <a:noFill/>
                  </a:rPr>
                  <a:t> </a:t>
                </a:r>
              </a:p>
            </p:txBody>
          </p:sp>
        </mc:Fallback>
      </mc:AlternateContent>
    </p:spTree>
    <p:extLst>
      <p:ext uri="{BB962C8B-B14F-4D97-AF65-F5344CB8AC3E}">
        <p14:creationId xmlns:p14="http://schemas.microsoft.com/office/powerpoint/2010/main" val="23592247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Aproximación a </a:t>
            </a:r>
            <a:r>
              <a:rPr lang="es-CO" dirty="0"/>
              <a:t>un </a:t>
            </a:r>
            <a:r>
              <a:rPr lang="es-CO" dirty="0" err="1"/>
              <a:t>Pseudo</a:t>
            </a:r>
            <a:r>
              <a:rPr lang="es-CO" dirty="0"/>
              <a:t> </a:t>
            </a:r>
            <a:r>
              <a:rPr lang="es-MX" dirty="0"/>
              <a:t>Error Cuadrático Medio</a:t>
            </a:r>
            <a:endParaRPr lang="es-CO" dirty="0"/>
          </a:p>
        </p:txBody>
      </p:sp>
      <p:sp>
        <p:nvSpPr>
          <p:cNvPr id="3" name="Marcador de texto 2"/>
          <p:cNvSpPr>
            <a:spLocks noGrp="1"/>
          </p:cNvSpPr>
          <p:nvPr>
            <p:ph type="body" idx="1"/>
          </p:nvPr>
        </p:nvSpPr>
        <p:spPr>
          <a:xfrm>
            <a:off x="805218" y="3704088"/>
            <a:ext cx="10860008" cy="2073096"/>
          </a:xfrm>
        </p:spPr>
        <p:txBody>
          <a:bodyPr/>
          <a:lstStyle/>
          <a:p>
            <a:r>
              <a:rPr lang="es-CO" dirty="0"/>
              <a:t>I</a:t>
            </a:r>
            <a:r>
              <a:rPr lang="es-CO" dirty="0" smtClean="0"/>
              <a:t>ndicador </a:t>
            </a:r>
            <a:r>
              <a:rPr lang="es-CO" dirty="0"/>
              <a:t>de Percepción de Probabilidad de Contagio (IPPC) </a:t>
            </a:r>
          </a:p>
          <a:p>
            <a:r>
              <a:rPr lang="es-CO" dirty="0"/>
              <a:t>I</a:t>
            </a:r>
            <a:r>
              <a:rPr lang="es-CO" dirty="0" smtClean="0"/>
              <a:t>ndicador </a:t>
            </a:r>
            <a:r>
              <a:rPr lang="es-CO" dirty="0"/>
              <a:t>de Percepción de Severidad (IPSE) </a:t>
            </a:r>
          </a:p>
          <a:p>
            <a:r>
              <a:rPr lang="es-CO" dirty="0"/>
              <a:t>I</a:t>
            </a:r>
            <a:r>
              <a:rPr lang="es-CO" dirty="0" smtClean="0"/>
              <a:t>ndicador </a:t>
            </a:r>
            <a:r>
              <a:rPr lang="es-CO" dirty="0"/>
              <a:t>de Percepción de Susceptibilidad (IPSU) </a:t>
            </a:r>
          </a:p>
          <a:p>
            <a:r>
              <a:rPr lang="es-CO" dirty="0"/>
              <a:t>I</a:t>
            </a:r>
            <a:r>
              <a:rPr lang="es-CO" dirty="0" smtClean="0"/>
              <a:t>ndicador </a:t>
            </a:r>
            <a:r>
              <a:rPr lang="es-CO" dirty="0"/>
              <a:t>de Percepción de Riesgo Global (IPRG) </a:t>
            </a:r>
          </a:p>
        </p:txBody>
      </p:sp>
      <mc:AlternateContent xmlns:mc="http://schemas.openxmlformats.org/markup-compatibility/2006" xmlns:a14="http://schemas.microsoft.com/office/drawing/2010/main">
        <mc:Choice Requires="a14">
          <p:sp>
            <p:nvSpPr>
              <p:cNvPr id="5" name="Rectángulo 4"/>
              <p:cNvSpPr/>
              <p:nvPr/>
            </p:nvSpPr>
            <p:spPr>
              <a:xfrm>
                <a:off x="3992653" y="2389653"/>
                <a:ext cx="4549387" cy="5821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sz="2400" i="1">
                          <a:latin typeface="Cambria Math" panose="02040503050406030204" pitchFamily="18" charset="0"/>
                        </a:rPr>
                        <m:t>𝑃𝐸𝐶𝑀</m:t>
                      </m:r>
                      <m:r>
                        <a:rPr lang="es-CO" sz="2400" i="1">
                          <a:latin typeface="Cambria Math" panose="02040503050406030204" pitchFamily="18" charset="0"/>
                        </a:rPr>
                        <m:t>=</m:t>
                      </m:r>
                      <m:r>
                        <a:rPr lang="es-CO" sz="2400" i="1">
                          <a:latin typeface="Cambria Math" panose="02040503050406030204" pitchFamily="18" charset="0"/>
                        </a:rPr>
                        <m:t>𝑉𝑎𝑟</m:t>
                      </m:r>
                      <m:r>
                        <a:rPr lang="es-CO" sz="2400" i="1">
                          <a:latin typeface="Cambria Math" panose="02040503050406030204" pitchFamily="18" charset="0"/>
                        </a:rPr>
                        <m:t> </m:t>
                      </m:r>
                      <m:d>
                        <m:dPr>
                          <m:ctrlPr>
                            <a:rPr lang="es-CO" sz="2400" i="1" dirty="0">
                              <a:latin typeface="Cambria Math" panose="02040503050406030204" pitchFamily="18" charset="0"/>
                            </a:rPr>
                          </m:ctrlPr>
                        </m:dPr>
                        <m:e>
                          <m:acc>
                            <m:accPr>
                              <m:chr m:val="̂"/>
                              <m:ctrlPr>
                                <a:rPr lang="es-CO" sz="2400" i="1" dirty="0">
                                  <a:latin typeface="Cambria Math" panose="02040503050406030204" pitchFamily="18" charset="0"/>
                                </a:rPr>
                              </m:ctrlPr>
                            </m:accPr>
                            <m:e>
                              <m:r>
                                <a:rPr lang="es-CO" sz="2400" i="1" dirty="0">
                                  <a:latin typeface="Cambria Math" panose="02040503050406030204" pitchFamily="18" charset="0"/>
                                  <a:ea typeface="Cambria Math" panose="02040503050406030204" pitchFamily="18" charset="0"/>
                                </a:rPr>
                                <m:t>𝜃</m:t>
                              </m:r>
                            </m:e>
                          </m:acc>
                        </m:e>
                      </m:d>
                      <m:r>
                        <a:rPr lang="es-CO" sz="2400" i="1" dirty="0">
                          <a:latin typeface="Cambria Math" panose="02040503050406030204" pitchFamily="18" charset="0"/>
                        </a:rPr>
                        <m:t>+ </m:t>
                      </m:r>
                      <m:sSup>
                        <m:sSupPr>
                          <m:ctrlPr>
                            <a:rPr lang="es-CO" sz="2400" i="1" dirty="0">
                              <a:latin typeface="Cambria Math" panose="02040503050406030204" pitchFamily="18" charset="0"/>
                            </a:rPr>
                          </m:ctrlPr>
                        </m:sSupPr>
                        <m:e>
                          <m:d>
                            <m:dPr>
                              <m:ctrlPr>
                                <a:rPr lang="es-CO" sz="2400" i="1" dirty="0">
                                  <a:latin typeface="Cambria Math" panose="02040503050406030204" pitchFamily="18" charset="0"/>
                                </a:rPr>
                              </m:ctrlPr>
                            </m:dPr>
                            <m:e>
                              <m:r>
                                <a:rPr lang="es-CO" sz="2400" i="1" dirty="0">
                                  <a:latin typeface="Cambria Math" panose="02040503050406030204" pitchFamily="18" charset="0"/>
                                </a:rPr>
                                <m:t>𝐸</m:t>
                              </m:r>
                              <m:d>
                                <m:dPr>
                                  <m:begChr m:val="["/>
                                  <m:endChr m:val="]"/>
                                  <m:ctrlPr>
                                    <a:rPr lang="es-CO" sz="2400" i="1" dirty="0">
                                      <a:latin typeface="Cambria Math" panose="02040503050406030204" pitchFamily="18" charset="0"/>
                                    </a:rPr>
                                  </m:ctrlPr>
                                </m:dPr>
                                <m:e>
                                  <m:acc>
                                    <m:accPr>
                                      <m:chr m:val="̂"/>
                                      <m:ctrlPr>
                                        <a:rPr lang="es-CO" sz="2400" i="1" dirty="0">
                                          <a:latin typeface="Cambria Math" panose="02040503050406030204" pitchFamily="18" charset="0"/>
                                        </a:rPr>
                                      </m:ctrlPr>
                                    </m:accPr>
                                    <m:e>
                                      <m:r>
                                        <a:rPr lang="es-CO" sz="2400" i="1" dirty="0">
                                          <a:latin typeface="Cambria Math" panose="02040503050406030204" pitchFamily="18" charset="0"/>
                                          <a:ea typeface="Cambria Math" panose="02040503050406030204" pitchFamily="18" charset="0"/>
                                        </a:rPr>
                                        <m:t>𝜃</m:t>
                                      </m:r>
                                    </m:e>
                                  </m:acc>
                                </m:e>
                              </m:d>
                              <m:r>
                                <a:rPr lang="es-CO" sz="2400" i="1" dirty="0">
                                  <a:latin typeface="Cambria Math" panose="02040503050406030204" pitchFamily="18" charset="0"/>
                                </a:rPr>
                                <m:t>−</m:t>
                              </m:r>
                              <m:acc>
                                <m:accPr>
                                  <m:chr m:val="̃"/>
                                  <m:ctrlPr>
                                    <a:rPr lang="es-CO" sz="2400" i="1" dirty="0">
                                      <a:latin typeface="Cambria Math" panose="02040503050406030204" pitchFamily="18" charset="0"/>
                                    </a:rPr>
                                  </m:ctrlPr>
                                </m:accPr>
                                <m:e>
                                  <m:r>
                                    <a:rPr lang="es-CO" sz="2400" i="1" dirty="0">
                                      <a:latin typeface="Cambria Math" panose="02040503050406030204" pitchFamily="18" charset="0"/>
                                      <a:ea typeface="Cambria Math" panose="02040503050406030204" pitchFamily="18" charset="0"/>
                                    </a:rPr>
                                    <m:t>𝜇</m:t>
                                  </m:r>
                                </m:e>
                              </m:acc>
                            </m:e>
                          </m:d>
                        </m:e>
                        <m:sup>
                          <m:r>
                            <a:rPr lang="es-CO" sz="2400" i="1" dirty="0">
                              <a:latin typeface="Cambria Math" panose="02040503050406030204" pitchFamily="18" charset="0"/>
                            </a:rPr>
                            <m:t>2</m:t>
                          </m:r>
                        </m:sup>
                      </m:sSup>
                    </m:oMath>
                  </m:oMathPara>
                </a14:m>
                <a:endParaRPr lang="es-CO" sz="2400" dirty="0"/>
              </a:p>
            </p:txBody>
          </p:sp>
        </mc:Choice>
        <mc:Fallback xmlns="">
          <p:sp>
            <p:nvSpPr>
              <p:cNvPr id="5" name="Rectángulo 4"/>
              <p:cNvSpPr>
                <a:spLocks noRot="1" noChangeAspect="1" noMove="1" noResize="1" noEditPoints="1" noAdjustHandles="1" noChangeArrowheads="1" noChangeShapeType="1" noTextEdit="1"/>
              </p:cNvSpPr>
              <p:nvPr/>
            </p:nvSpPr>
            <p:spPr>
              <a:xfrm>
                <a:off x="3992653" y="2389653"/>
                <a:ext cx="4549387" cy="582147"/>
              </a:xfrm>
              <a:prstGeom prst="rect">
                <a:avLst/>
              </a:prstGeom>
              <a:blipFill>
                <a:blip r:embed="rId2"/>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42849841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Correlación entre grupos </a:t>
            </a:r>
          </a:p>
        </p:txBody>
      </p:sp>
      <p:sp>
        <p:nvSpPr>
          <p:cNvPr id="3" name="Marcador de texto 2"/>
          <p:cNvSpPr>
            <a:spLocks noGrp="1"/>
          </p:cNvSpPr>
          <p:nvPr>
            <p:ph type="body" idx="1"/>
          </p:nvPr>
        </p:nvSpPr>
        <p:spPr/>
        <p:txBody>
          <a:bodyPr/>
          <a:lstStyle/>
          <a:p>
            <a:pPr marL="82550" indent="0" algn="just">
              <a:lnSpc>
                <a:spcPct val="150000"/>
              </a:lnSpc>
              <a:buNone/>
            </a:pPr>
            <a:r>
              <a:rPr lang="es-MX" dirty="0"/>
              <a:t>Los dos primeros ejes recogen el </a:t>
            </a:r>
            <a:r>
              <a:rPr lang="es-MX" b="1" dirty="0"/>
              <a:t>51,94 %</a:t>
            </a:r>
            <a:r>
              <a:rPr lang="es-MX" dirty="0"/>
              <a:t> de varianza acumulada, generándose 16 componentes con tres grupos activos denotados como Probabilidad de contagio, Severidad y Susceptibilidad. </a:t>
            </a:r>
          </a:p>
          <a:p>
            <a:pPr marL="82550" indent="0" algn="just">
              <a:lnSpc>
                <a:spcPct val="150000"/>
              </a:lnSpc>
              <a:buNone/>
            </a:pPr>
            <a:r>
              <a:rPr lang="es-MX" dirty="0"/>
              <a:t>Los grupos Severidad y Susceptibilidad tienen una correlación que supera el 0.85 con la primera dimensión. El grupo que más se correlaciona con la segunda componente es la Probabilidad de contagio, presentando una correlación por encima de 0.70</a:t>
            </a:r>
            <a:endParaRPr lang="es-CO" dirty="0"/>
          </a:p>
        </p:txBody>
      </p:sp>
    </p:spTree>
    <p:extLst>
      <p:ext uri="{BB962C8B-B14F-4D97-AF65-F5344CB8AC3E}">
        <p14:creationId xmlns:p14="http://schemas.microsoft.com/office/powerpoint/2010/main" val="33124766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739348" y="5994051"/>
            <a:ext cx="11276748" cy="528776"/>
          </a:xfrm>
        </p:spPr>
        <p:txBody>
          <a:bodyPr/>
          <a:lstStyle/>
          <a:p>
            <a:pPr marL="82550" indent="0">
              <a:buNone/>
            </a:pPr>
            <a:r>
              <a:rPr lang="es-MX" sz="2000" i="1" dirty="0"/>
              <a:t>Figura 6</a:t>
            </a:r>
            <a:r>
              <a:rPr lang="es-MX" sz="2000" dirty="0"/>
              <a:t>: Representación del Círculo de correlación de las variables del AFM</a:t>
            </a:r>
            <a:r>
              <a:rPr lang="es-CO" sz="2000" dirty="0"/>
              <a:t>. Elaboración propia</a:t>
            </a:r>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r="3810"/>
          <a:stretch/>
        </p:blipFill>
        <p:spPr>
          <a:xfrm>
            <a:off x="2728560" y="1072950"/>
            <a:ext cx="6358030" cy="4921101"/>
          </a:xfrm>
          <a:prstGeom prst="rect">
            <a:avLst/>
          </a:prstGeom>
        </p:spPr>
      </p:pic>
    </p:spTree>
    <p:extLst>
      <p:ext uri="{BB962C8B-B14F-4D97-AF65-F5344CB8AC3E}">
        <p14:creationId xmlns:p14="http://schemas.microsoft.com/office/powerpoint/2010/main" val="9628940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274" y="2888524"/>
            <a:ext cx="4096026" cy="1518376"/>
          </a:xfrm>
        </p:spPr>
        <p:txBody>
          <a:bodyPr/>
          <a:lstStyle/>
          <a:p>
            <a:r>
              <a:rPr lang="es-CO" dirty="0"/>
              <a:t>Análisis de correspondencias múltiples</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0946" y="1201057"/>
            <a:ext cx="6870700" cy="4907643"/>
          </a:xfrm>
          <a:prstGeom prst="rect">
            <a:avLst/>
          </a:prstGeom>
        </p:spPr>
      </p:pic>
      <p:sp>
        <p:nvSpPr>
          <p:cNvPr id="3" name="Rectángulo 2"/>
          <p:cNvSpPr/>
          <p:nvPr/>
        </p:nvSpPr>
        <p:spPr>
          <a:xfrm>
            <a:off x="1071706" y="5739368"/>
            <a:ext cx="2371162" cy="369332"/>
          </a:xfrm>
          <a:prstGeom prst="rect">
            <a:avLst/>
          </a:prstGeom>
        </p:spPr>
        <p:txBody>
          <a:bodyPr wrap="none">
            <a:spAutoFit/>
          </a:bodyPr>
          <a:lstStyle/>
          <a:p>
            <a:pPr marL="82550" indent="0">
              <a:buNone/>
            </a:pPr>
            <a:r>
              <a:rPr lang="es-CO" sz="1800" dirty="0">
                <a:hlinkClick r:id="rId3"/>
              </a:rPr>
              <a:t>Tablero en </a:t>
            </a:r>
            <a:r>
              <a:rPr lang="es-CO" sz="1800" dirty="0" err="1">
                <a:hlinkClick r:id="rId3"/>
              </a:rPr>
              <a:t>Power</a:t>
            </a:r>
            <a:r>
              <a:rPr lang="es-CO" sz="1800" dirty="0">
                <a:hlinkClick r:id="rId3"/>
              </a:rPr>
              <a:t> BI</a:t>
            </a:r>
            <a:endParaRPr lang="es-CO" sz="1800" dirty="0"/>
          </a:p>
        </p:txBody>
      </p:sp>
      <p:sp>
        <p:nvSpPr>
          <p:cNvPr id="5" name="Marcador de texto 2"/>
          <p:cNvSpPr>
            <a:spLocks noGrp="1"/>
          </p:cNvSpPr>
          <p:nvPr>
            <p:ph type="body" idx="1"/>
          </p:nvPr>
        </p:nvSpPr>
        <p:spPr>
          <a:xfrm>
            <a:off x="5106537" y="6108700"/>
            <a:ext cx="6595609" cy="528776"/>
          </a:xfrm>
        </p:spPr>
        <p:txBody>
          <a:bodyPr/>
          <a:lstStyle/>
          <a:p>
            <a:pPr marL="82550" indent="0">
              <a:buNone/>
            </a:pPr>
            <a:r>
              <a:rPr lang="es-MX" sz="2000" i="1" dirty="0"/>
              <a:t>Figura 7</a:t>
            </a:r>
            <a:r>
              <a:rPr lang="es-MX" sz="2000" dirty="0"/>
              <a:t>: Mapa factorial eje 1 y 2</a:t>
            </a:r>
            <a:r>
              <a:rPr lang="es-CO" sz="2000" dirty="0"/>
              <a:t>. Elaboración propia</a:t>
            </a:r>
          </a:p>
        </p:txBody>
      </p:sp>
    </p:spTree>
    <p:extLst>
      <p:ext uri="{BB962C8B-B14F-4D97-AF65-F5344CB8AC3E}">
        <p14:creationId xmlns:p14="http://schemas.microsoft.com/office/powerpoint/2010/main" val="1667629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Clasificación jerárquica </a:t>
            </a:r>
          </a:p>
        </p:txBody>
      </p:sp>
      <p:sp>
        <p:nvSpPr>
          <p:cNvPr id="3" name="Marcador de texto 2"/>
          <p:cNvSpPr>
            <a:spLocks noGrp="1"/>
          </p:cNvSpPr>
          <p:nvPr>
            <p:ph type="body" idx="1"/>
          </p:nvPr>
        </p:nvSpPr>
        <p:spPr>
          <a:xfrm>
            <a:off x="5232400" y="1846953"/>
            <a:ext cx="6597926" cy="4579247"/>
          </a:xfrm>
        </p:spPr>
        <p:txBody>
          <a:bodyPr/>
          <a:lstStyle/>
          <a:p>
            <a:pPr algn="just"/>
            <a:r>
              <a:rPr lang="es-MX" sz="2200" b="1" dirty="0" err="1"/>
              <a:t>Cluster</a:t>
            </a:r>
            <a:r>
              <a:rPr lang="es-MX" sz="2200" b="1" dirty="0"/>
              <a:t> 1</a:t>
            </a:r>
            <a:r>
              <a:rPr lang="es-MX" sz="2200" dirty="0"/>
              <a:t>: IPRG más altas, ingresos mayores o iguales a 3 SMLV, nivel educativo Maestría/Doctorado, estrato 5 y 6, mayores a los 30 años y de Cali.</a:t>
            </a:r>
          </a:p>
          <a:p>
            <a:pPr algn="just"/>
            <a:r>
              <a:rPr lang="es-MX" sz="2200" b="1" dirty="0" err="1">
                <a:solidFill>
                  <a:srgbClr val="DE1F26"/>
                </a:solidFill>
              </a:rPr>
              <a:t>Cluster</a:t>
            </a:r>
            <a:r>
              <a:rPr lang="es-MX" sz="2200" b="1" dirty="0">
                <a:solidFill>
                  <a:srgbClr val="DE1F26"/>
                </a:solidFill>
              </a:rPr>
              <a:t> 2</a:t>
            </a:r>
            <a:r>
              <a:rPr lang="es-MX" sz="2200" dirty="0"/>
              <a:t>: IPRG altas, ingresos entre 1 y 3 SMLV, ocupación empleados, nivel educativo universitario, estrato 3 y 4, edades entre 30 y 59 años y de Palmira.</a:t>
            </a:r>
          </a:p>
          <a:p>
            <a:pPr algn="just"/>
            <a:r>
              <a:rPr lang="es-MX" sz="2200" b="1" dirty="0" err="1">
                <a:solidFill>
                  <a:srgbClr val="ADE7A4"/>
                </a:solidFill>
              </a:rPr>
              <a:t>Cluster</a:t>
            </a:r>
            <a:r>
              <a:rPr lang="es-MX" sz="2200" b="1" dirty="0">
                <a:solidFill>
                  <a:srgbClr val="ADE7A4"/>
                </a:solidFill>
              </a:rPr>
              <a:t> 3</a:t>
            </a:r>
            <a:r>
              <a:rPr lang="es-MX" sz="2200" dirty="0"/>
              <a:t>: IPRG bajas-medias, ingresos menores a 1 SMLV, ocupación estudiante, edades entre 18 y 29 años, educación Técnico/Bachillerato completo/Bachillerato incompleto, estratos 1 y 2 y pertenecientes a los dos municipios. </a:t>
            </a:r>
            <a:endParaRPr lang="es-CO" sz="2200" dirty="0"/>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r="3620"/>
          <a:stretch/>
        </p:blipFill>
        <p:spPr>
          <a:xfrm>
            <a:off x="361674" y="2088253"/>
            <a:ext cx="4705626" cy="3487373"/>
          </a:xfrm>
          <a:prstGeom prst="rect">
            <a:avLst/>
          </a:prstGeom>
        </p:spPr>
      </p:pic>
      <p:sp>
        <p:nvSpPr>
          <p:cNvPr id="5" name="Marcador de texto 2"/>
          <p:cNvSpPr txBox="1">
            <a:spLocks/>
          </p:cNvSpPr>
          <p:nvPr/>
        </p:nvSpPr>
        <p:spPr>
          <a:xfrm>
            <a:off x="922559" y="5461758"/>
            <a:ext cx="4441011" cy="52877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74650" algn="l" rtl="0">
              <a:lnSpc>
                <a:spcPct val="90000"/>
              </a:lnSpc>
              <a:spcBef>
                <a:spcPts val="1000"/>
              </a:spcBef>
              <a:spcAft>
                <a:spcPts val="0"/>
              </a:spcAft>
              <a:buClr>
                <a:schemeClr val="dk1"/>
              </a:buClr>
              <a:buSzPts val="2300"/>
              <a:buFont typeface="Arial"/>
              <a:buChar char="•"/>
              <a:defRPr sz="23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82550" indent="0">
              <a:buFont typeface="Arial"/>
              <a:buNone/>
            </a:pPr>
            <a:r>
              <a:rPr lang="es-MX" sz="2000" i="1" dirty="0"/>
              <a:t>Figura 8</a:t>
            </a:r>
            <a:r>
              <a:rPr lang="es-MX" sz="2000" dirty="0"/>
              <a:t>: </a:t>
            </a:r>
            <a:r>
              <a:rPr lang="es-MX" sz="2000" dirty="0" err="1"/>
              <a:t>Cluster</a:t>
            </a:r>
            <a:r>
              <a:rPr lang="es-CO" sz="2000" dirty="0"/>
              <a:t>. Elaboración propia</a:t>
            </a:r>
          </a:p>
        </p:txBody>
      </p:sp>
    </p:spTree>
    <p:extLst>
      <p:ext uri="{BB962C8B-B14F-4D97-AF65-F5344CB8AC3E}">
        <p14:creationId xmlns:p14="http://schemas.microsoft.com/office/powerpoint/2010/main" val="29730261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Conclusiones </a:t>
            </a:r>
          </a:p>
        </p:txBody>
      </p:sp>
      <p:sp>
        <p:nvSpPr>
          <p:cNvPr id="3" name="Marcador de texto 2"/>
          <p:cNvSpPr>
            <a:spLocks noGrp="1"/>
          </p:cNvSpPr>
          <p:nvPr>
            <p:ph type="body" idx="1"/>
          </p:nvPr>
        </p:nvSpPr>
        <p:spPr/>
        <p:txBody>
          <a:bodyPr/>
          <a:lstStyle/>
          <a:p>
            <a:pPr algn="just"/>
            <a:r>
              <a:rPr lang="es-MX" dirty="0"/>
              <a:t>La metodología empleada permitió generar </a:t>
            </a:r>
            <a:r>
              <a:rPr lang="es-MX" dirty="0" smtClean="0"/>
              <a:t>indicadores </a:t>
            </a:r>
            <a:r>
              <a:rPr lang="es-MX" dirty="0"/>
              <a:t>con buen desempeño y útiles para los entes gubernamentales y de salud pública para realizar intervenciones. </a:t>
            </a:r>
          </a:p>
          <a:p>
            <a:pPr algn="just"/>
            <a:r>
              <a:rPr lang="es-MX" dirty="0"/>
              <a:t>Se desarrolló una metodología heurística que puede ser empleada en cualquier área del conocimiento cuando se cuente con variables latentes y no se permita realizar análisis multivariados</a:t>
            </a:r>
            <a:endParaRPr lang="es-CO" dirty="0"/>
          </a:p>
        </p:txBody>
      </p:sp>
    </p:spTree>
    <p:extLst>
      <p:ext uri="{BB962C8B-B14F-4D97-AF65-F5344CB8AC3E}">
        <p14:creationId xmlns:p14="http://schemas.microsoft.com/office/powerpoint/2010/main" val="1944384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Recomendaciones</a:t>
            </a:r>
          </a:p>
        </p:txBody>
      </p:sp>
      <p:sp>
        <p:nvSpPr>
          <p:cNvPr id="3" name="Marcador de texto 2"/>
          <p:cNvSpPr>
            <a:spLocks noGrp="1"/>
          </p:cNvSpPr>
          <p:nvPr>
            <p:ph type="body" idx="1"/>
          </p:nvPr>
        </p:nvSpPr>
        <p:spPr/>
        <p:txBody>
          <a:bodyPr/>
          <a:lstStyle/>
          <a:p>
            <a:pPr algn="just"/>
            <a:r>
              <a:rPr lang="es-MX" dirty="0"/>
              <a:t>Se recomienda que en caso de repetirse el estudio, es importante que la muestra utilizada se seleccione de manera aleatoria, realizar un muestreo por conglomerados o un muestreo estratificado. </a:t>
            </a:r>
          </a:p>
          <a:p>
            <a:pPr algn="just"/>
            <a:r>
              <a:rPr lang="es-MX" dirty="0"/>
              <a:t>También se recomienda para futuras investigaciones construir </a:t>
            </a:r>
            <a:r>
              <a:rPr lang="es-MX" dirty="0" smtClean="0"/>
              <a:t>indicadores </a:t>
            </a:r>
            <a:r>
              <a:rPr lang="es-MX" dirty="0"/>
              <a:t>a través de otras metodologías como PLS o SEM para pretender obtener un menor error cuadrático medio. </a:t>
            </a:r>
            <a:endParaRPr lang="es-CO" dirty="0"/>
          </a:p>
        </p:txBody>
      </p:sp>
    </p:spTree>
    <p:extLst>
      <p:ext uri="{BB962C8B-B14F-4D97-AF65-F5344CB8AC3E}">
        <p14:creationId xmlns:p14="http://schemas.microsoft.com/office/powerpoint/2010/main" val="3845662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Bibliografía I</a:t>
            </a:r>
          </a:p>
        </p:txBody>
      </p:sp>
      <p:sp>
        <p:nvSpPr>
          <p:cNvPr id="3" name="Marcador de texto 2"/>
          <p:cNvSpPr>
            <a:spLocks noGrp="1"/>
          </p:cNvSpPr>
          <p:nvPr>
            <p:ph type="body" idx="1"/>
          </p:nvPr>
        </p:nvSpPr>
        <p:spPr/>
        <p:txBody>
          <a:bodyPr/>
          <a:lstStyle/>
          <a:p>
            <a:pPr algn="just"/>
            <a:r>
              <a:rPr lang="es-CO" dirty="0"/>
              <a:t>Andersen, K., </a:t>
            </a:r>
            <a:r>
              <a:rPr lang="es-CO" dirty="0" err="1"/>
              <a:t>Rambaut</a:t>
            </a:r>
            <a:r>
              <a:rPr lang="es-CO" dirty="0"/>
              <a:t>, A., </a:t>
            </a:r>
            <a:r>
              <a:rPr lang="es-CO" dirty="0" err="1"/>
              <a:t>Lipkin</a:t>
            </a:r>
            <a:r>
              <a:rPr lang="es-CO" dirty="0"/>
              <a:t>, W., Holmes, E. </a:t>
            </a:r>
            <a:r>
              <a:rPr lang="es-CO" dirty="0" err="1"/>
              <a:t>Garry</a:t>
            </a:r>
            <a:r>
              <a:rPr lang="es-CO" dirty="0"/>
              <a:t>, R. (2020), ‘</a:t>
            </a:r>
            <a:r>
              <a:rPr lang="es-CO" dirty="0" err="1"/>
              <a:t>The</a:t>
            </a:r>
            <a:r>
              <a:rPr lang="es-CO" dirty="0"/>
              <a:t> proximal </a:t>
            </a:r>
            <a:r>
              <a:rPr lang="es-CO" dirty="0" err="1"/>
              <a:t>origin</a:t>
            </a:r>
            <a:r>
              <a:rPr lang="es-CO" dirty="0"/>
              <a:t> of sars-cov-2’,Nat Med26, 450–452. </a:t>
            </a:r>
          </a:p>
          <a:p>
            <a:pPr algn="just"/>
            <a:r>
              <a:rPr lang="es-CO" dirty="0"/>
              <a:t>Becerra Avella, M. (2010), ‘Comparación del análisis factorial múltiple (</a:t>
            </a:r>
            <a:r>
              <a:rPr lang="es-CO" dirty="0" err="1"/>
              <a:t>afm</a:t>
            </a:r>
            <a:r>
              <a:rPr lang="es-CO" dirty="0"/>
              <a:t>) y del análisis en componentes principales para datos cualitativos (</a:t>
            </a:r>
            <a:r>
              <a:rPr lang="es-CO" dirty="0" err="1"/>
              <a:t>prinqual</a:t>
            </a:r>
            <a:r>
              <a:rPr lang="es-CO" dirty="0"/>
              <a:t>), en la construcción de </a:t>
            </a:r>
            <a:r>
              <a:rPr lang="es-CO" dirty="0" err="1"/>
              <a:t>índices’,Universidad</a:t>
            </a:r>
            <a:r>
              <a:rPr lang="es-CO" dirty="0"/>
              <a:t> de Nacional de Colombia. </a:t>
            </a:r>
          </a:p>
          <a:p>
            <a:pPr algn="just"/>
            <a:r>
              <a:rPr lang="es-CO" dirty="0"/>
              <a:t>Brooks, S., </a:t>
            </a:r>
            <a:r>
              <a:rPr lang="es-CO" dirty="0" err="1"/>
              <a:t>Webster</a:t>
            </a:r>
            <a:r>
              <a:rPr lang="es-CO" dirty="0"/>
              <a:t>, R., Smith, L., Woodland, L., </a:t>
            </a:r>
            <a:r>
              <a:rPr lang="es-CO" dirty="0" err="1"/>
              <a:t>Wessely</a:t>
            </a:r>
            <a:r>
              <a:rPr lang="es-CO" dirty="0"/>
              <a:t>, S., </a:t>
            </a:r>
            <a:r>
              <a:rPr lang="es-CO" dirty="0" err="1"/>
              <a:t>Greenberg</a:t>
            </a:r>
            <a:r>
              <a:rPr lang="es-CO" dirty="0"/>
              <a:t>, N. </a:t>
            </a:r>
            <a:r>
              <a:rPr lang="es-CO" dirty="0" err="1"/>
              <a:t>Rubin</a:t>
            </a:r>
            <a:r>
              <a:rPr lang="es-CO" dirty="0"/>
              <a:t>, G. (2020), ‘</a:t>
            </a:r>
            <a:r>
              <a:rPr lang="es-CO" dirty="0" err="1"/>
              <a:t>Thepsychological</a:t>
            </a:r>
            <a:r>
              <a:rPr lang="es-CO" dirty="0"/>
              <a:t> </a:t>
            </a:r>
            <a:r>
              <a:rPr lang="es-CO" dirty="0" err="1"/>
              <a:t>impact</a:t>
            </a:r>
            <a:r>
              <a:rPr lang="es-CO" dirty="0"/>
              <a:t> of </a:t>
            </a:r>
            <a:r>
              <a:rPr lang="es-CO" dirty="0" err="1"/>
              <a:t>quarantine</a:t>
            </a:r>
            <a:r>
              <a:rPr lang="es-CO" dirty="0"/>
              <a:t> and </a:t>
            </a:r>
            <a:r>
              <a:rPr lang="es-CO" dirty="0" err="1"/>
              <a:t>how</a:t>
            </a:r>
            <a:r>
              <a:rPr lang="es-CO" dirty="0"/>
              <a:t> to reduce </a:t>
            </a:r>
            <a:r>
              <a:rPr lang="es-CO" dirty="0" err="1"/>
              <a:t>it</a:t>
            </a:r>
            <a:r>
              <a:rPr lang="es-CO" dirty="0"/>
              <a:t>: </a:t>
            </a:r>
            <a:r>
              <a:rPr lang="es-CO" dirty="0" err="1"/>
              <a:t>rapid</a:t>
            </a:r>
            <a:r>
              <a:rPr lang="es-CO" dirty="0"/>
              <a:t> </a:t>
            </a:r>
            <a:r>
              <a:rPr lang="es-CO" dirty="0" err="1"/>
              <a:t>review</a:t>
            </a:r>
            <a:r>
              <a:rPr lang="es-CO" dirty="0"/>
              <a:t> of </a:t>
            </a:r>
            <a:r>
              <a:rPr lang="es-CO" dirty="0" err="1"/>
              <a:t>the</a:t>
            </a:r>
            <a:r>
              <a:rPr lang="es-CO" dirty="0"/>
              <a:t> </a:t>
            </a:r>
            <a:r>
              <a:rPr lang="es-CO" dirty="0" err="1"/>
              <a:t>evidence</a:t>
            </a:r>
            <a:r>
              <a:rPr lang="es-CO" dirty="0"/>
              <a:t>’,</a:t>
            </a:r>
            <a:r>
              <a:rPr lang="es-CO" dirty="0" err="1"/>
              <a:t>The</a:t>
            </a:r>
            <a:r>
              <a:rPr lang="es-CO" dirty="0"/>
              <a:t> Lancet395(10227), 912–920. </a:t>
            </a:r>
          </a:p>
          <a:p>
            <a:pPr algn="just"/>
            <a:r>
              <a:rPr lang="es-CO" dirty="0"/>
              <a:t>Caicedo, D., Gómez, S., Estrada, V., Bermúdez, E., Pérez, M., </a:t>
            </a:r>
            <a:r>
              <a:rPr lang="es-CO" dirty="0" err="1"/>
              <a:t>Aristizábal</a:t>
            </a:r>
            <a:r>
              <a:rPr lang="es-CO" dirty="0"/>
              <a:t>, J., Holguín, J., Rodríguez, </a:t>
            </a:r>
            <a:r>
              <a:rPr lang="es-CO" dirty="0" err="1"/>
              <a:t>M.,Gutiérrez</a:t>
            </a:r>
            <a:r>
              <a:rPr lang="es-CO" dirty="0"/>
              <a:t>, K., Velásquez, A. Benítez, N. (2021a), ‘Percepción de riesgo de covid-19 en </a:t>
            </a:r>
            <a:r>
              <a:rPr lang="es-CO" dirty="0" err="1"/>
              <a:t>cali</a:t>
            </a:r>
            <a:r>
              <a:rPr lang="es-CO" dirty="0"/>
              <a:t>’,Pontificia Universidad Javeriana.</a:t>
            </a:r>
          </a:p>
        </p:txBody>
      </p:sp>
    </p:spTree>
    <p:extLst>
      <p:ext uri="{BB962C8B-B14F-4D97-AF65-F5344CB8AC3E}">
        <p14:creationId xmlns:p14="http://schemas.microsoft.com/office/powerpoint/2010/main" val="31637181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Bibliografía II</a:t>
            </a:r>
          </a:p>
        </p:txBody>
      </p:sp>
      <p:sp>
        <p:nvSpPr>
          <p:cNvPr id="3" name="Marcador de texto 2"/>
          <p:cNvSpPr>
            <a:spLocks noGrp="1"/>
          </p:cNvSpPr>
          <p:nvPr>
            <p:ph type="body" idx="1"/>
          </p:nvPr>
        </p:nvSpPr>
        <p:spPr/>
        <p:txBody>
          <a:bodyPr/>
          <a:lstStyle/>
          <a:p>
            <a:pPr algn="just"/>
            <a:r>
              <a:rPr lang="es-CO" dirty="0" err="1"/>
              <a:t>Dryhurst</a:t>
            </a:r>
            <a:r>
              <a:rPr lang="es-CO" dirty="0"/>
              <a:t>, S., Schneider, C., </a:t>
            </a:r>
            <a:r>
              <a:rPr lang="es-CO" dirty="0" err="1"/>
              <a:t>Kerr</a:t>
            </a:r>
            <a:r>
              <a:rPr lang="es-CO" dirty="0"/>
              <a:t>, J., </a:t>
            </a:r>
            <a:r>
              <a:rPr lang="es-CO" dirty="0" err="1"/>
              <a:t>Freeman</a:t>
            </a:r>
            <a:r>
              <a:rPr lang="es-CO" dirty="0"/>
              <a:t>, A., </a:t>
            </a:r>
            <a:r>
              <a:rPr lang="es-CO" dirty="0" err="1"/>
              <a:t>Recchia</a:t>
            </a:r>
            <a:r>
              <a:rPr lang="es-CO" dirty="0"/>
              <a:t>, G., Van der </a:t>
            </a:r>
            <a:r>
              <a:rPr lang="es-CO" dirty="0" err="1"/>
              <a:t>Bles</a:t>
            </a:r>
            <a:r>
              <a:rPr lang="es-CO" dirty="0"/>
              <a:t>, A., </a:t>
            </a:r>
            <a:r>
              <a:rPr lang="es-CO" dirty="0" err="1"/>
              <a:t>Spiegelhalter</a:t>
            </a:r>
            <a:r>
              <a:rPr lang="es-CO" dirty="0"/>
              <a:t>, D. Van </a:t>
            </a:r>
            <a:r>
              <a:rPr lang="es-CO" dirty="0" err="1"/>
              <a:t>derLinden</a:t>
            </a:r>
            <a:r>
              <a:rPr lang="es-CO" dirty="0"/>
              <a:t>, S. (2020), ‘</a:t>
            </a:r>
            <a:r>
              <a:rPr lang="es-CO" dirty="0" err="1"/>
              <a:t>Risk</a:t>
            </a:r>
            <a:r>
              <a:rPr lang="es-CO" dirty="0"/>
              <a:t> </a:t>
            </a:r>
            <a:r>
              <a:rPr lang="es-CO" dirty="0" err="1"/>
              <a:t>perceptions</a:t>
            </a:r>
            <a:r>
              <a:rPr lang="es-CO" dirty="0"/>
              <a:t> of covid-19 </a:t>
            </a:r>
            <a:r>
              <a:rPr lang="es-CO" dirty="0" err="1"/>
              <a:t>around</a:t>
            </a:r>
            <a:r>
              <a:rPr lang="es-CO" dirty="0"/>
              <a:t> </a:t>
            </a:r>
            <a:r>
              <a:rPr lang="es-CO" dirty="0" err="1"/>
              <a:t>the</a:t>
            </a:r>
            <a:r>
              <a:rPr lang="es-CO" dirty="0"/>
              <a:t> </a:t>
            </a:r>
            <a:r>
              <a:rPr lang="es-CO" dirty="0" err="1"/>
              <a:t>world</a:t>
            </a:r>
            <a:r>
              <a:rPr lang="es-CO" dirty="0"/>
              <a:t>’,</a:t>
            </a:r>
            <a:r>
              <a:rPr lang="es-CO" dirty="0" err="1"/>
              <a:t>Journal</a:t>
            </a:r>
            <a:r>
              <a:rPr lang="es-CO" dirty="0"/>
              <a:t> of </a:t>
            </a:r>
            <a:r>
              <a:rPr lang="es-CO" dirty="0" err="1"/>
              <a:t>Risk</a:t>
            </a:r>
            <a:r>
              <a:rPr lang="es-CO" dirty="0"/>
              <a:t> Research23(7-8), 994–1006. </a:t>
            </a:r>
          </a:p>
          <a:p>
            <a:pPr algn="just"/>
            <a:r>
              <a:rPr lang="es-CO" dirty="0" err="1"/>
              <a:t>Escofier</a:t>
            </a:r>
            <a:r>
              <a:rPr lang="es-CO" dirty="0"/>
              <a:t>, B. </a:t>
            </a:r>
            <a:r>
              <a:rPr lang="es-CO" dirty="0" err="1"/>
              <a:t>Pag´es</a:t>
            </a:r>
            <a:r>
              <a:rPr lang="es-CO" dirty="0"/>
              <a:t>, J. (1992),Análisis Factoriales Simples y Múltiples: Objetivos, Métodos e Interpretación, Universidad del País Vasco, España, pp. 117–170. </a:t>
            </a:r>
          </a:p>
          <a:p>
            <a:pPr algn="just"/>
            <a:r>
              <a:rPr lang="es-CO" dirty="0" err="1"/>
              <a:t>Fujii</a:t>
            </a:r>
            <a:r>
              <a:rPr lang="es-CO" dirty="0"/>
              <a:t>, R., Suzuki, K. </a:t>
            </a:r>
            <a:r>
              <a:rPr lang="es-CO" dirty="0" err="1"/>
              <a:t>Niimi</a:t>
            </a:r>
            <a:r>
              <a:rPr lang="es-CO" dirty="0"/>
              <a:t>, J. (2021), ‘</a:t>
            </a:r>
            <a:r>
              <a:rPr lang="es-CO" dirty="0" err="1"/>
              <a:t>Public</a:t>
            </a:r>
            <a:r>
              <a:rPr lang="es-CO" dirty="0"/>
              <a:t> </a:t>
            </a:r>
            <a:r>
              <a:rPr lang="es-CO" dirty="0" err="1"/>
              <a:t>perceptions</a:t>
            </a:r>
            <a:r>
              <a:rPr lang="es-CO" dirty="0"/>
              <a:t>, individual </a:t>
            </a:r>
            <a:r>
              <a:rPr lang="es-CO" dirty="0" err="1"/>
              <a:t>characteristics</a:t>
            </a:r>
            <a:r>
              <a:rPr lang="es-CO" dirty="0"/>
              <a:t>, and </a:t>
            </a:r>
            <a:r>
              <a:rPr lang="es-CO" dirty="0" err="1"/>
              <a:t>preventive</a:t>
            </a:r>
            <a:r>
              <a:rPr lang="es-CO" dirty="0"/>
              <a:t> </a:t>
            </a:r>
            <a:r>
              <a:rPr lang="es-CO" dirty="0" err="1"/>
              <a:t>behaviors</a:t>
            </a:r>
            <a:r>
              <a:rPr lang="es-CO" dirty="0"/>
              <a:t> </a:t>
            </a:r>
            <a:r>
              <a:rPr lang="es-CO" dirty="0" err="1"/>
              <a:t>for</a:t>
            </a:r>
            <a:r>
              <a:rPr lang="es-CO" dirty="0"/>
              <a:t> COVID-19 in </a:t>
            </a:r>
            <a:r>
              <a:rPr lang="es-CO" dirty="0" err="1"/>
              <a:t>six</a:t>
            </a:r>
            <a:r>
              <a:rPr lang="es-CO" dirty="0"/>
              <a:t> </a:t>
            </a:r>
            <a:r>
              <a:rPr lang="es-CO" dirty="0" err="1"/>
              <a:t>countries</a:t>
            </a:r>
            <a:r>
              <a:rPr lang="es-CO" dirty="0"/>
              <a:t>: a </a:t>
            </a:r>
            <a:r>
              <a:rPr lang="es-CO" dirty="0" err="1"/>
              <a:t>cross-sectional</a:t>
            </a:r>
            <a:r>
              <a:rPr lang="es-CO" dirty="0"/>
              <a:t> </a:t>
            </a:r>
            <a:r>
              <a:rPr lang="es-CO" dirty="0" err="1"/>
              <a:t>study</a:t>
            </a:r>
            <a:r>
              <a:rPr lang="es-CO" dirty="0"/>
              <a:t>’, </a:t>
            </a:r>
            <a:r>
              <a:rPr lang="es-CO" dirty="0" err="1"/>
              <a:t>Environmental</a:t>
            </a:r>
            <a:r>
              <a:rPr lang="es-CO" dirty="0"/>
              <a:t> </a:t>
            </a:r>
            <a:r>
              <a:rPr lang="es-CO" dirty="0" err="1"/>
              <a:t>Health</a:t>
            </a:r>
            <a:r>
              <a:rPr lang="es-CO" dirty="0"/>
              <a:t> and PreventiveMedicine26(1) </a:t>
            </a:r>
          </a:p>
          <a:p>
            <a:pPr algn="just"/>
            <a:r>
              <a:rPr lang="es-CO" dirty="0"/>
              <a:t>González Rojas, V. (2014), ‘Análisis conjunto de múltiples tablas de datos mixtos mediante PLS’, </a:t>
            </a:r>
            <a:r>
              <a:rPr lang="es-CO" dirty="0" err="1"/>
              <a:t>Universitat</a:t>
            </a:r>
            <a:r>
              <a:rPr lang="es-CO" dirty="0"/>
              <a:t> Politécnica de Catalunya. </a:t>
            </a:r>
          </a:p>
        </p:txBody>
      </p:sp>
    </p:spTree>
    <p:extLst>
      <p:ext uri="{BB962C8B-B14F-4D97-AF65-F5344CB8AC3E}">
        <p14:creationId xmlns:p14="http://schemas.microsoft.com/office/powerpoint/2010/main" val="4573344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Bibliografía III</a:t>
            </a:r>
          </a:p>
        </p:txBody>
      </p:sp>
      <p:sp>
        <p:nvSpPr>
          <p:cNvPr id="3" name="Marcador de texto 2"/>
          <p:cNvSpPr>
            <a:spLocks noGrp="1"/>
          </p:cNvSpPr>
          <p:nvPr>
            <p:ph type="body" idx="1"/>
          </p:nvPr>
        </p:nvSpPr>
        <p:spPr/>
        <p:txBody>
          <a:bodyPr/>
          <a:lstStyle/>
          <a:p>
            <a:pPr algn="just"/>
            <a:r>
              <a:rPr lang="es-CO" dirty="0"/>
              <a:t>Hernández </a:t>
            </a:r>
            <a:r>
              <a:rPr lang="es-CO" dirty="0" err="1"/>
              <a:t>Sampieri</a:t>
            </a:r>
            <a:r>
              <a:rPr lang="es-CO" dirty="0"/>
              <a:t>, R., Fernández, C. Baptista, P. (2014), Metodología de la investigación, 6 </a:t>
            </a:r>
            <a:r>
              <a:rPr lang="es-CO" dirty="0" err="1"/>
              <a:t>edn</a:t>
            </a:r>
            <a:r>
              <a:rPr lang="es-CO" dirty="0"/>
              <a:t>, </a:t>
            </a:r>
            <a:r>
              <a:rPr lang="es-CO" dirty="0" err="1"/>
              <a:t>McGRAW-HILL</a:t>
            </a:r>
            <a:r>
              <a:rPr lang="es-CO" dirty="0"/>
              <a:t>, pp. 194–267. </a:t>
            </a:r>
          </a:p>
          <a:p>
            <a:pPr algn="just"/>
            <a:r>
              <a:rPr lang="es-CO" dirty="0"/>
              <a:t>Johns Hopkins </a:t>
            </a:r>
            <a:r>
              <a:rPr lang="es-CO" dirty="0" err="1"/>
              <a:t>University</a:t>
            </a:r>
            <a:r>
              <a:rPr lang="es-CO" dirty="0"/>
              <a:t> (2021),COVID-19 </a:t>
            </a:r>
            <a:r>
              <a:rPr lang="es-CO" dirty="0" err="1"/>
              <a:t>Dashboard</a:t>
            </a:r>
            <a:r>
              <a:rPr lang="es-CO" dirty="0"/>
              <a:t> </a:t>
            </a:r>
            <a:r>
              <a:rPr lang="es-CO" dirty="0" err="1"/>
              <a:t>by</a:t>
            </a:r>
            <a:r>
              <a:rPr lang="es-CO" dirty="0"/>
              <a:t> </a:t>
            </a:r>
            <a:r>
              <a:rPr lang="es-CO" dirty="0" err="1"/>
              <a:t>the</a:t>
            </a:r>
            <a:r>
              <a:rPr lang="es-CO" dirty="0"/>
              <a:t> Center </a:t>
            </a:r>
            <a:r>
              <a:rPr lang="es-CO" dirty="0" err="1"/>
              <a:t>for</a:t>
            </a:r>
            <a:r>
              <a:rPr lang="es-CO" dirty="0"/>
              <a:t> </a:t>
            </a:r>
            <a:r>
              <a:rPr lang="es-CO" dirty="0" err="1"/>
              <a:t>Systems</a:t>
            </a:r>
            <a:r>
              <a:rPr lang="es-CO" dirty="0"/>
              <a:t> </a:t>
            </a:r>
            <a:r>
              <a:rPr lang="es-CO" dirty="0" err="1"/>
              <a:t>Science</a:t>
            </a:r>
            <a:r>
              <a:rPr lang="es-CO" dirty="0"/>
              <a:t> and </a:t>
            </a:r>
            <a:r>
              <a:rPr lang="es-CO" dirty="0" err="1"/>
              <a:t>Engineering</a:t>
            </a:r>
            <a:r>
              <a:rPr lang="es-CO" dirty="0"/>
              <a:t>(CSSE) at Johns Hopkins </a:t>
            </a:r>
            <a:r>
              <a:rPr lang="es-CO" dirty="0" err="1"/>
              <a:t>University</a:t>
            </a:r>
            <a:r>
              <a:rPr lang="es-CO" dirty="0"/>
              <a:t> (JHU).</a:t>
            </a:r>
          </a:p>
          <a:p>
            <a:pPr algn="just"/>
            <a:r>
              <a:rPr lang="es-CO" dirty="0"/>
              <a:t>OPS (2021), </a:t>
            </a:r>
            <a:r>
              <a:rPr lang="es-CO" dirty="0" err="1"/>
              <a:t>Frequently</a:t>
            </a:r>
            <a:r>
              <a:rPr lang="es-CO" dirty="0"/>
              <a:t> </a:t>
            </a:r>
            <a:r>
              <a:rPr lang="es-CO" dirty="0" err="1"/>
              <a:t>Asked</a:t>
            </a:r>
            <a:r>
              <a:rPr lang="es-CO" dirty="0"/>
              <a:t> </a:t>
            </a:r>
            <a:r>
              <a:rPr lang="es-CO" dirty="0" err="1"/>
              <a:t>Questions</a:t>
            </a:r>
            <a:r>
              <a:rPr lang="es-CO" dirty="0"/>
              <a:t> </a:t>
            </a:r>
            <a:r>
              <a:rPr lang="es-CO" dirty="0" err="1"/>
              <a:t>about</a:t>
            </a:r>
            <a:r>
              <a:rPr lang="es-CO" dirty="0"/>
              <a:t> COVID-19 </a:t>
            </a:r>
            <a:r>
              <a:rPr lang="es-CO" dirty="0" err="1"/>
              <a:t>Vaccines</a:t>
            </a:r>
            <a:r>
              <a:rPr lang="es-CO" dirty="0"/>
              <a:t>.</a:t>
            </a:r>
          </a:p>
          <a:p>
            <a:pPr algn="just"/>
            <a:r>
              <a:rPr lang="es-CO" dirty="0"/>
              <a:t>Silva, L. (1997),Cultura estadística e investigación científica en el campo de la salud: Una mirada </a:t>
            </a:r>
            <a:r>
              <a:rPr lang="es-CO" dirty="0" err="1"/>
              <a:t>cr´ıtica,Editorial</a:t>
            </a:r>
            <a:r>
              <a:rPr lang="es-CO" dirty="0"/>
              <a:t> </a:t>
            </a:r>
            <a:r>
              <a:rPr lang="es-CO" dirty="0" err="1"/>
              <a:t>Diaz</a:t>
            </a:r>
            <a:r>
              <a:rPr lang="es-CO" dirty="0"/>
              <a:t> de Santos., Madrid. </a:t>
            </a:r>
          </a:p>
          <a:p>
            <a:pPr algn="just"/>
            <a:r>
              <a:rPr lang="es-CO" dirty="0"/>
              <a:t>Varela, M., , A. Tovar, J. (2018), ‘</a:t>
            </a:r>
            <a:r>
              <a:rPr lang="es-CO" dirty="0" err="1"/>
              <a:t>Measuring</a:t>
            </a:r>
            <a:r>
              <a:rPr lang="es-CO" dirty="0"/>
              <a:t> </a:t>
            </a:r>
            <a:r>
              <a:rPr lang="es-CO" dirty="0" err="1"/>
              <a:t>eating</a:t>
            </a:r>
            <a:r>
              <a:rPr lang="es-CO" dirty="0"/>
              <a:t> </a:t>
            </a:r>
            <a:r>
              <a:rPr lang="es-CO" dirty="0" err="1"/>
              <a:t>habits</a:t>
            </a:r>
            <a:r>
              <a:rPr lang="es-CO" dirty="0"/>
              <a:t> and </a:t>
            </a:r>
            <a:r>
              <a:rPr lang="es-CO" dirty="0" err="1"/>
              <a:t>physical</a:t>
            </a:r>
            <a:r>
              <a:rPr lang="es-CO" dirty="0"/>
              <a:t> </a:t>
            </a:r>
            <a:r>
              <a:rPr lang="es-CO" dirty="0" err="1"/>
              <a:t>activity</a:t>
            </a:r>
            <a:r>
              <a:rPr lang="es-CO" dirty="0"/>
              <a:t> in </a:t>
            </a:r>
            <a:r>
              <a:rPr lang="es-CO" dirty="0" err="1"/>
              <a:t>children</a:t>
            </a:r>
            <a:r>
              <a:rPr lang="es-CO" dirty="0"/>
              <a:t>: </a:t>
            </a:r>
            <a:r>
              <a:rPr lang="es-CO" dirty="0" err="1"/>
              <a:t>Synthe-sis</a:t>
            </a:r>
            <a:r>
              <a:rPr lang="es-CO" dirty="0"/>
              <a:t> of </a:t>
            </a:r>
            <a:r>
              <a:rPr lang="es-CO" dirty="0" err="1"/>
              <a:t>information</a:t>
            </a:r>
            <a:r>
              <a:rPr lang="es-CO" dirty="0"/>
              <a:t> </a:t>
            </a:r>
            <a:r>
              <a:rPr lang="es-CO" dirty="0" err="1"/>
              <a:t>using</a:t>
            </a:r>
            <a:r>
              <a:rPr lang="es-CO" dirty="0"/>
              <a:t> indexes and </a:t>
            </a:r>
            <a:r>
              <a:rPr lang="es-CO" dirty="0" err="1"/>
              <a:t>clusters</a:t>
            </a:r>
            <a:r>
              <a:rPr lang="es-CO" dirty="0"/>
              <a:t>’, Revista Mexicana de Trastornos Alimentarios/</a:t>
            </a:r>
            <a:r>
              <a:rPr lang="es-CO" dirty="0" err="1"/>
              <a:t>MexicanJournal</a:t>
            </a:r>
            <a:r>
              <a:rPr lang="es-CO" dirty="0"/>
              <a:t> of </a:t>
            </a:r>
            <a:r>
              <a:rPr lang="es-CO" dirty="0" err="1"/>
              <a:t>Eating</a:t>
            </a:r>
            <a:r>
              <a:rPr lang="es-CO" dirty="0"/>
              <a:t> Disorders9, 264–276. </a:t>
            </a:r>
          </a:p>
        </p:txBody>
      </p:sp>
    </p:spTree>
    <p:extLst>
      <p:ext uri="{BB962C8B-B14F-4D97-AF65-F5344CB8AC3E}">
        <p14:creationId xmlns:p14="http://schemas.microsoft.com/office/powerpoint/2010/main" val="4337168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973</TotalTime>
  <Words>1218</Words>
  <Application>Microsoft Office PowerPoint</Application>
  <PresentationFormat>Panorámica</PresentationFormat>
  <Paragraphs>87</Paragraphs>
  <Slides>23</Slides>
  <Notes>5</Notes>
  <HiddenSlides>0</HiddenSlides>
  <MMClips>0</MMClips>
  <ScaleCrop>false</ScaleCrop>
  <HeadingPairs>
    <vt:vector size="6" baseType="variant">
      <vt:variant>
        <vt:lpstr>Fuentes usadas</vt:lpstr>
      </vt:variant>
      <vt:variant>
        <vt:i4>3</vt:i4>
      </vt:variant>
      <vt:variant>
        <vt:lpstr>Tema</vt:lpstr>
      </vt:variant>
      <vt:variant>
        <vt:i4>4</vt:i4>
      </vt:variant>
      <vt:variant>
        <vt:lpstr>Títulos de diapositiva</vt:lpstr>
      </vt:variant>
      <vt:variant>
        <vt:i4>23</vt:i4>
      </vt:variant>
    </vt:vector>
  </HeadingPairs>
  <TitlesOfParts>
    <vt:vector size="30" baseType="lpstr">
      <vt:lpstr>Arial</vt:lpstr>
      <vt:lpstr>Calibri</vt:lpstr>
      <vt:lpstr>Cambria Math</vt:lpstr>
      <vt:lpstr>Tema de Office</vt:lpstr>
      <vt:lpstr>Diseño personalizado</vt:lpstr>
      <vt:lpstr>1_Diseño personalizado</vt:lpstr>
      <vt:lpstr>2_Diseño personalizado</vt:lpstr>
      <vt:lpstr>Presentación de PowerPoint</vt:lpstr>
      <vt:lpstr>Propuesta de construcción de indicador de percepción de riesgo </vt:lpstr>
      <vt:lpstr>Presentación de PowerPoint</vt:lpstr>
      <vt:lpstr>Definiciones conceptuales</vt:lpstr>
      <vt:lpstr>Justificación</vt:lpstr>
      <vt:lpstr>Objetivo general</vt:lpstr>
      <vt:lpstr>Presentación de PowerPoint</vt:lpstr>
      <vt:lpstr>Presentación de PowerPoint</vt:lpstr>
      <vt:lpstr>Presentación de PowerPoint</vt:lpstr>
      <vt:lpstr>Construcción de indicador (Metodología multivariada)</vt:lpstr>
      <vt:lpstr>Construcción de indicador (Metodología Heurística)</vt:lpstr>
      <vt:lpstr>Ecuación del indicador</vt:lpstr>
      <vt:lpstr>Aproximación a un Pseudo Error Cuadrático Medio</vt:lpstr>
      <vt:lpstr>Correlación entre grupos </vt:lpstr>
      <vt:lpstr>Presentación de PowerPoint</vt:lpstr>
      <vt:lpstr>Análisis de correspondencias múltiples</vt:lpstr>
      <vt:lpstr>Clasificación jerárquica </vt:lpstr>
      <vt:lpstr>Conclusiones </vt:lpstr>
      <vt:lpstr>Recomendaciones</vt:lpstr>
      <vt:lpstr>Bibliografía I</vt:lpstr>
      <vt:lpstr>Bibliografía II</vt:lpstr>
      <vt:lpstr>Bibliografía III</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Rafael</dc:creator>
  <cp:lastModifiedBy>Laura Lucía Domínguez</cp:lastModifiedBy>
  <cp:revision>141</cp:revision>
  <dcterms:modified xsi:type="dcterms:W3CDTF">2023-05-20T22:40:31Z</dcterms:modified>
</cp:coreProperties>
</file>